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trictFirstAndLastChars="0" embedTrueTypeFonts="1" saveSubsetFonts="1" autoCompressPictures="0">
  <p:sldMasterIdLst>
    <p:sldMasterId id="2147483648" r:id="rId1"/>
  </p:sldMasterIdLst>
  <p:notesMasterIdLst>
    <p:notesMasterId r:id="rId14"/>
  </p:notesMasterIdLst>
  <p:sldIdLst>
    <p:sldId id="257" r:id="rId2"/>
    <p:sldId id="258" r:id="rId3"/>
    <p:sldId id="259" r:id="rId4"/>
    <p:sldId id="260" r:id="rId5"/>
    <p:sldId id="261" r:id="rId6"/>
    <p:sldId id="262" r:id="rId7"/>
    <p:sldId id="269" r:id="rId8"/>
    <p:sldId id="271" r:id="rId9"/>
    <p:sldId id="263" r:id="rId10"/>
    <p:sldId id="273" r:id="rId11"/>
    <p:sldId id="264" r:id="rId12"/>
    <p:sldId id="265" r:id="rId13"/>
  </p:sldIdLst>
  <p:sldSz cx="12192000" cy="6858000"/>
  <p:notesSz cx="6858000" cy="9144000"/>
  <p:embeddedFontLst>
    <p:embeddedFont>
      <p:font typeface="Inter" panose="02000503000000020004" pitchFamily="2" charset="0"/>
      <p:regular r:id="rId15"/>
      <p:bold r:id="rId16"/>
      <p:italic r:id="rId17"/>
      <p:boldItalic r:id="rId18"/>
    </p:embeddedFont>
    <p:embeddedFont>
      <p:font typeface="Inter Medium" panose="02000503000000020004" pitchFamily="2" charset="0"/>
      <p:regular r:id="rId19"/>
      <p:bold r:id="rId20"/>
      <p:italic r:id="rId21"/>
      <p:boldItalic r:id="rId22"/>
    </p:embeddedFont>
    <p:embeddedFont>
      <p:font typeface="Poppins" pitchFamily="2" charset="77"/>
      <p:regular r:id="rId23"/>
      <p:bold r:id="rId24"/>
      <p:italic r:id="rId25"/>
      <p:boldItalic r:id="rId26"/>
    </p:embeddedFont>
    <p:embeddedFont>
      <p:font typeface="Poppins Medium" panose="00000600000000000000" pitchFamily="2" charset="77"/>
      <p:regular r:id="rId27"/>
      <p:bold r:id="rId28"/>
      <p:italic r:id="rId29"/>
      <p:boldItalic r:id="rId30"/>
    </p:embeddedFont>
    <p:embeddedFont>
      <p:font typeface="Poppins SemiBold" panose="00000700000000000000" pitchFamily="2" charset="77"/>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yAinWX1mukScA4+FciqYHSNPe6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4"/>
    <p:restoredTop sz="80443"/>
  </p:normalViewPr>
  <p:slideViewPr>
    <p:cSldViewPr snapToGrid="0">
      <p:cViewPr varScale="1">
        <p:scale>
          <a:sx n="117" d="100"/>
          <a:sy n="117" d="100"/>
        </p:scale>
        <p:origin x="1344"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theme" Target="theme/theme1.xml"/><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e730759fec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298450" algn="l" rtl="0">
              <a:lnSpc>
                <a:spcPct val="100000"/>
              </a:lnSpc>
              <a:spcBef>
                <a:spcPts val="0"/>
              </a:spcBef>
              <a:spcAft>
                <a:spcPts val="0"/>
              </a:spcAft>
              <a:buSzPts val="1100"/>
              <a:buChar char="●"/>
            </a:pPr>
            <a:r>
              <a:rPr lang="en-US" b="1">
                <a:solidFill>
                  <a:schemeClr val="dk1"/>
                </a:solidFill>
              </a:rPr>
              <a:t>The Hook</a:t>
            </a:r>
            <a:endParaRPr>
              <a:solidFill>
                <a:schemeClr val="dk1"/>
              </a:solidFill>
            </a:endParaRPr>
          </a:p>
          <a:p>
            <a:pPr marL="457200" marR="381000" lvl="0" indent="0" algn="l" rtl="0">
              <a:lnSpc>
                <a:spcPct val="100000"/>
              </a:lnSpc>
              <a:spcBef>
                <a:spcPts val="0"/>
              </a:spcBef>
              <a:spcAft>
                <a:spcPts val="0"/>
              </a:spcAft>
              <a:buNone/>
            </a:pPr>
            <a:r>
              <a:rPr lang="en-US">
                <a:solidFill>
                  <a:schemeClr val="dk1"/>
                </a:solidFill>
              </a:rPr>
              <a:t>Have you ever been to a hospital and had no idea where to go? For us, it was roy’s 80-year-old grandmother. </a:t>
            </a:r>
            <a:br>
              <a:rPr lang="en-US">
                <a:solidFill>
                  <a:schemeClr val="dk1"/>
                </a:solidFill>
              </a:rPr>
            </a:br>
            <a:r>
              <a:rPr lang="en-US">
                <a:solidFill>
                  <a:schemeClr val="dk1"/>
                </a:solidFill>
              </a:rPr>
              <a:t>She manages a busy schedule. She drives everywhere, runs errands, and is always the one giving orders- never asking for help. </a:t>
            </a:r>
            <a:br>
              <a:rPr lang="en-US">
                <a:solidFill>
                  <a:schemeClr val="dk1"/>
                </a:solidFill>
              </a:rPr>
            </a:br>
            <a:r>
              <a:rPr lang="en-US">
                <a:solidFill>
                  <a:schemeClr val="dk1"/>
                </a:solidFill>
              </a:rPr>
              <a:t>But when she arrived at the hospital for a simple eye exam, everything changed. Faced with identical corridors, confusing signs, and dozens of rushed staff members passing by without making eye contact, she felt completely lost.</a:t>
            </a:r>
            <a:endParaRPr sz="1100"/>
          </a:p>
        </p:txBody>
      </p:sp>
      <p:sp>
        <p:nvSpPr>
          <p:cNvPr id="92" name="Google Shape;92;g3e730759fec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e730759fec_0_9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e730759fec_0_9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381000" marR="381000" lvl="0" indent="-298450" algn="l" rtl="0">
              <a:spcBef>
                <a:spcPts val="0"/>
              </a:spcBef>
              <a:spcAft>
                <a:spcPts val="0"/>
              </a:spcAft>
              <a:buClr>
                <a:schemeClr val="dk1"/>
              </a:buClr>
              <a:buSzPts val="1100"/>
              <a:buChar char="●"/>
            </a:pPr>
            <a:r>
              <a:rPr lang="en-US" b="1">
                <a:solidFill>
                  <a:schemeClr val="dk1"/>
                </a:solidFill>
              </a:rPr>
              <a:t>The Problem</a:t>
            </a:r>
            <a:r>
              <a:rPr lang="en-US">
                <a:solidFill>
                  <a:schemeClr val="dk1"/>
                </a:solidFill>
              </a:rPr>
              <a:t> </a:t>
            </a:r>
            <a:endParaRPr>
              <a:solidFill>
                <a:schemeClr val="dk1"/>
              </a:solidFill>
            </a:endParaRPr>
          </a:p>
          <a:p>
            <a:pPr marL="457200" marR="381000" lvl="0" indent="0" algn="l" rtl="0">
              <a:spcBef>
                <a:spcPts val="0"/>
              </a:spcBef>
              <a:spcAft>
                <a:spcPts val="0"/>
              </a:spcAft>
              <a:buNone/>
            </a:pPr>
            <a:r>
              <a:rPr lang="en-US">
                <a:solidFill>
                  <a:schemeClr val="dk1"/>
                </a:solidFill>
              </a:rPr>
              <a:t>That morning, the hospital wasted a valuable specialist appointment. A nurse had to stop her clinical work just to act as an information desk. </a:t>
            </a:r>
            <a:br>
              <a:rPr lang="en-US">
                <a:solidFill>
                  <a:schemeClr val="dk1"/>
                </a:solidFill>
              </a:rPr>
            </a:br>
            <a:r>
              <a:rPr lang="en-US">
                <a:solidFill>
                  <a:schemeClr val="dk1"/>
                </a:solidFill>
              </a:rPr>
              <a:t>This happens hundreds of times a day.</a:t>
            </a:r>
            <a:br>
              <a:rPr lang="en-US">
                <a:solidFill>
                  <a:schemeClr val="dk1"/>
                </a:solidFill>
              </a:rPr>
            </a:br>
            <a:r>
              <a:rPr lang="en-US">
                <a:solidFill>
                  <a:schemeClr val="dk1"/>
                </a:solidFill>
              </a:rPr>
              <a:t>Instead of managing the event, the system drops the patient into what we call the 'Black Hole': waiting in front of a closed door, with zero information and absolutely no sense of control.</a:t>
            </a:r>
            <a:br>
              <a:rPr lang="en-US">
                <a:solidFill>
                  <a:schemeClr val="dk1"/>
                </a:solidFill>
              </a:rPr>
            </a:br>
            <a:r>
              <a:rPr lang="en-US">
                <a:solidFill>
                  <a:schemeClr val="dk1"/>
                </a:solidFill>
              </a:rPr>
              <a:t>And this Black Hole translates directly into numbers. An average hospital burns 4,500 staff hours a year guiding lost patients, losing over half a million dollars annually. </a:t>
            </a:r>
            <a:endParaRPr>
              <a:solidFill>
                <a:schemeClr val="dk1"/>
              </a:solidFill>
            </a:endParaRPr>
          </a:p>
          <a:p>
            <a:pPr marL="457200" marR="381000" lvl="0" indent="0" algn="l" rtl="0">
              <a:spcBef>
                <a:spcPts val="0"/>
              </a:spcBef>
              <a:spcAft>
                <a:spcPts val="0"/>
              </a:spcAft>
              <a:buNone/>
            </a:pPr>
            <a:r>
              <a:rPr lang="en-US">
                <a:solidFill>
                  <a:schemeClr val="dk1"/>
                </a:solidFill>
              </a:rPr>
              <a:t>In the US alone, patient no-shows cost the healthcare system $150 billion a year.</a:t>
            </a:r>
            <a:br>
              <a:rPr lang="en-US">
                <a:solidFill>
                  <a:schemeClr val="dk1"/>
                </a:solidFill>
              </a:rPr>
            </a:br>
            <a:r>
              <a:rPr lang="en-US">
                <a:solidFill>
                  <a:schemeClr val="dk1"/>
                </a:solidFill>
              </a:rPr>
              <a:t>And in most cases, the reason is simple: the patient just didn't understand what was required of them, or gave up because the journey was simply too complicated.</a:t>
            </a:r>
            <a:endParaRPr>
              <a:solidFill>
                <a:schemeClr val="dk1"/>
              </a:solidFill>
            </a:endParaRPr>
          </a:p>
          <a:p>
            <a:pPr marL="0" marR="381000" lvl="0" indent="0" algn="l" rtl="0">
              <a:spcBef>
                <a:spcPts val="0"/>
              </a:spcBef>
              <a:spcAft>
                <a:spcPts val="0"/>
              </a:spcAft>
              <a:buClr>
                <a:schemeClr val="dk1"/>
              </a:buClr>
              <a:buSzPts val="1100"/>
              <a:buFont typeface="Arial"/>
              <a:buNone/>
            </a:pPr>
            <a:endParaRPr>
              <a:solidFill>
                <a:schemeClr val="dk1"/>
              </a:solidFill>
            </a:endParaRPr>
          </a:p>
          <a:p>
            <a:pPr marL="381000" marR="381000" lvl="0" indent="-298450" algn="l" rtl="0">
              <a:spcBef>
                <a:spcPts val="0"/>
              </a:spcBef>
              <a:spcAft>
                <a:spcPts val="0"/>
              </a:spcAft>
              <a:buClr>
                <a:schemeClr val="dk1"/>
              </a:buClr>
              <a:buSzPts val="1100"/>
              <a:buChar char="●"/>
            </a:pPr>
            <a:r>
              <a:rPr lang="en-US" b="1">
                <a:solidFill>
                  <a:schemeClr val="dk1"/>
                </a:solidFill>
              </a:rPr>
              <a:t>The S</a:t>
            </a:r>
            <a:r>
              <a:rPr lang="en-US" sz="1200" b="1">
                <a:solidFill>
                  <a:schemeClr val="dk1"/>
                </a:solidFill>
              </a:rPr>
              <a:t>olution</a:t>
            </a:r>
            <a:endParaRPr sz="1200" b="1">
              <a:solidFill>
                <a:schemeClr val="dk1"/>
              </a:solidFill>
            </a:endParaRPr>
          </a:p>
          <a:p>
            <a:pPr marL="457200" marR="381000" lvl="0" indent="0" algn="l" rtl="0">
              <a:spcBef>
                <a:spcPts val="0"/>
              </a:spcBef>
              <a:spcAft>
                <a:spcPts val="0"/>
              </a:spcAft>
              <a:buClr>
                <a:schemeClr val="dk1"/>
              </a:buClr>
              <a:buSzPts val="1100"/>
              <a:buFont typeface="Arial"/>
              <a:buNone/>
            </a:pPr>
            <a:r>
              <a:rPr lang="en-US">
                <a:solidFill>
                  <a:schemeClr val="dk1"/>
                </a:solidFill>
              </a:rPr>
              <a:t>Our solution is MedAssist. It is a zero-friction, web-app patient companion. </a:t>
            </a:r>
            <a:br>
              <a:rPr lang="en-US">
                <a:solidFill>
                  <a:schemeClr val="dk1"/>
                </a:solidFill>
              </a:rPr>
            </a:br>
            <a:r>
              <a:rPr lang="en-US">
                <a:solidFill>
                  <a:schemeClr val="dk1"/>
                </a:solidFill>
              </a:rPr>
              <a:t>There is no app to download and no passwords to remember, patients just get an SMS link.</a:t>
            </a:r>
            <a:endParaRPr>
              <a:solidFill>
                <a:schemeClr val="dk1"/>
              </a:solidFill>
            </a:endParaRPr>
          </a:p>
          <a:p>
            <a:pPr marL="457200" marR="381000" lvl="0" indent="0" algn="l" rtl="0">
              <a:spcBef>
                <a:spcPts val="0"/>
              </a:spcBef>
              <a:spcAft>
                <a:spcPts val="0"/>
              </a:spcAft>
              <a:buClr>
                <a:schemeClr val="dk1"/>
              </a:buClr>
              <a:buSzPts val="1100"/>
              <a:buFont typeface="Arial"/>
              <a:buNone/>
            </a:pPr>
            <a:r>
              <a:rPr lang="en-US">
                <a:solidFill>
                  <a:schemeClr val="dk1"/>
                </a:solidFill>
              </a:rPr>
              <a:t>Days before the procedure, the link provides exact preparation instructions to prevent no-shows. </a:t>
            </a:r>
            <a:br>
              <a:rPr lang="en-US">
                <a:solidFill>
                  <a:schemeClr val="dk1"/>
                </a:solidFill>
              </a:rPr>
            </a:br>
            <a:r>
              <a:rPr lang="en-US">
                <a:solidFill>
                  <a:schemeClr val="dk1"/>
                </a:solidFill>
              </a:rPr>
              <a:t>On the day of the visit, it uses one-image-per-screen photo navigation, effortlessly overcoming language and age barriers. </a:t>
            </a:r>
            <a:br>
              <a:rPr lang="en-US">
                <a:solidFill>
                  <a:schemeClr val="dk1"/>
                </a:solidFill>
              </a:rPr>
            </a:br>
            <a:r>
              <a:rPr lang="en-US">
                <a:solidFill>
                  <a:schemeClr val="dk1"/>
                </a:solidFill>
              </a:rPr>
              <a:t>When the patient sits down, the screen updates in real-time, letting them know the staff is aware they arrived.</a:t>
            </a:r>
            <a:endParaRPr>
              <a:solidFill>
                <a:schemeClr val="dk1"/>
              </a:solidFill>
            </a:endParaRPr>
          </a:p>
          <a:p>
            <a:pPr marL="457200" marR="381000" lvl="0" indent="0" algn="l" rtl="0">
              <a:spcBef>
                <a:spcPts val="0"/>
              </a:spcBef>
              <a:spcAft>
                <a:spcPts val="0"/>
              </a:spcAft>
              <a:buClr>
                <a:schemeClr val="dk1"/>
              </a:buClr>
              <a:buSzPts val="1100"/>
              <a:buFont typeface="Arial"/>
              <a:buNone/>
            </a:pPr>
            <a:endParaRPr>
              <a:solidFill>
                <a:schemeClr val="dk1"/>
              </a:solidFill>
            </a:endParaRPr>
          </a:p>
          <a:p>
            <a:pPr marL="381000" marR="381000" lvl="0" indent="-298450" algn="l" rtl="0">
              <a:spcBef>
                <a:spcPts val="0"/>
              </a:spcBef>
              <a:spcAft>
                <a:spcPts val="0"/>
              </a:spcAft>
              <a:buClr>
                <a:schemeClr val="dk1"/>
              </a:buClr>
              <a:buSzPts val="1100"/>
              <a:buChar char="●"/>
            </a:pPr>
            <a:r>
              <a:rPr lang="en-US" b="1">
                <a:solidFill>
                  <a:schemeClr val="dk1"/>
                </a:solidFill>
              </a:rPr>
              <a:t>Our Vision</a:t>
            </a:r>
            <a:endParaRPr sz="1200" b="1">
              <a:solidFill>
                <a:schemeClr val="dk1"/>
              </a:solidFill>
            </a:endParaRPr>
          </a:p>
          <a:p>
            <a:pPr marL="457200" marR="381000" lvl="0" indent="0" algn="l" rtl="0">
              <a:spcBef>
                <a:spcPts val="0"/>
              </a:spcBef>
              <a:spcAft>
                <a:spcPts val="0"/>
              </a:spcAft>
              <a:buNone/>
            </a:pPr>
            <a:r>
              <a:rPr lang="en-US">
                <a:solidFill>
                  <a:schemeClr val="dk1"/>
                </a:solidFill>
              </a:rPr>
              <a:t>Our vision at MedAssist has three core goals: </a:t>
            </a:r>
            <a:br>
              <a:rPr lang="en-US">
                <a:solidFill>
                  <a:schemeClr val="dk1"/>
                </a:solidFill>
              </a:rPr>
            </a:br>
            <a:r>
              <a:rPr lang="en-US">
                <a:solidFill>
                  <a:schemeClr val="dk1"/>
                </a:solidFill>
              </a:rPr>
              <a:t>- Patients arrive for treatment calm and prepared. </a:t>
            </a:r>
            <a:br>
              <a:rPr lang="en-US">
                <a:solidFill>
                  <a:schemeClr val="dk1"/>
                </a:solidFill>
              </a:rPr>
            </a:br>
            <a:r>
              <a:rPr lang="en-US">
                <a:solidFill>
                  <a:schemeClr val="dk1"/>
                </a:solidFill>
              </a:rPr>
              <a:t>- The medical staff stops acting as a human information desk and returns to providing care. </a:t>
            </a:r>
            <a:br>
              <a:rPr lang="en-US">
                <a:solidFill>
                  <a:schemeClr val="dk1"/>
                </a:solidFill>
              </a:rPr>
            </a:br>
            <a:r>
              <a:rPr lang="en-US">
                <a:solidFill>
                  <a:schemeClr val="dk1"/>
                </a:solidFill>
              </a:rPr>
              <a:t>- And the next time Roy's grandmother visits the hospital, she won't have to give up and go home just because no one stopped to tell her she was exactly in the right place.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381000" lvl="0" indent="0" algn="l" rtl="0">
              <a:lnSpc>
                <a:spcPct val="100000"/>
              </a:lnSpc>
              <a:spcBef>
                <a:spcPts val="0"/>
              </a:spcBef>
              <a:spcAft>
                <a:spcPts val="0"/>
              </a:spcAft>
              <a:buNone/>
            </a:pPr>
            <a:r>
              <a:rPr lang="en-US"/>
              <a:t>As Tal mentioned earlier, our entire philosophy is zero friction. Here is how that translates into our architecture.</a:t>
            </a:r>
            <a:endParaRPr/>
          </a:p>
          <a:p>
            <a:pPr marL="0" marR="381000" lvl="0" indent="0" algn="l" rtl="0">
              <a:lnSpc>
                <a:spcPct val="100000"/>
              </a:lnSpc>
              <a:spcBef>
                <a:spcPts val="0"/>
              </a:spcBef>
              <a:spcAft>
                <a:spcPts val="0"/>
              </a:spcAft>
              <a:buNone/>
            </a:pPr>
            <a:r>
              <a:rPr lang="en-US"/>
              <a:t>Everything is orchestrated through one SMS link that acts as a dynamic timeline. </a:t>
            </a:r>
            <a:endParaRPr/>
          </a:p>
          <a:p>
            <a:pPr marL="0" marR="381000" lvl="0" indent="0" algn="l" rtl="0">
              <a:lnSpc>
                <a:spcPct val="100000"/>
              </a:lnSpc>
              <a:spcBef>
                <a:spcPts val="0"/>
              </a:spcBef>
              <a:spcAft>
                <a:spcPts val="0"/>
              </a:spcAft>
              <a:buNone/>
            </a:pPr>
            <a:r>
              <a:rPr lang="en-US"/>
              <a:t>Days before the visit, it opens the 'Prepare' phase- handling digital forms and fasting instructions from home. </a:t>
            </a:r>
            <a:endParaRPr/>
          </a:p>
          <a:p>
            <a:pPr marL="0" marR="381000" lvl="0" indent="0" algn="l" rtl="0">
              <a:lnSpc>
                <a:spcPct val="100000"/>
              </a:lnSpc>
              <a:spcBef>
                <a:spcPts val="0"/>
              </a:spcBef>
              <a:spcAft>
                <a:spcPts val="0"/>
              </a:spcAft>
              <a:buNone/>
            </a:pPr>
            <a:r>
              <a:rPr lang="en-US"/>
              <a:t>On the actual day of the appointment, that exact same link dynamically updates to become their 'Visit' companion, giving them live navigation and queue status.</a:t>
            </a:r>
            <a:endParaRPr/>
          </a:p>
          <a:p>
            <a:pPr marL="0" marR="381000" lvl="0" indent="0" algn="l" rtl="0">
              <a:lnSpc>
                <a:spcPct val="100000"/>
              </a:lnSpc>
              <a:spcBef>
                <a:spcPts val="0"/>
              </a:spcBef>
              <a:spcAft>
                <a:spcPts val="0"/>
              </a:spcAft>
              <a:buNone/>
            </a:pPr>
            <a:r>
              <a:rPr lang="en-US"/>
              <a:t>After their arrival to the hospital, instead of confusing signs, the system speaks in visual language. One image and one sentence per screen, guiding them step by step to the right department. This visual navigation is a strategic choice- it immediately removes barriers of age, language, and over complicating technology.</a:t>
            </a:r>
            <a:endParaRPr/>
          </a:p>
        </p:txBody>
      </p:sp>
      <p:sp>
        <p:nvSpPr>
          <p:cNvPr id="125" name="Google Shape;12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730759fec_0_1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dirty="0"/>
              <a:t>To solve the 'Black Hole’ </a:t>
            </a:r>
            <a:r>
              <a:rPr lang="he-IL" dirty="0" err="1"/>
              <a:t>w</a:t>
            </a:r>
            <a:r>
              <a:rPr lang="en-US" dirty="0"/>
              <a:t>e mentioned earlier, we built two main engines.</a:t>
            </a:r>
            <a:endParaRPr dirty="0"/>
          </a:p>
          <a:p>
            <a:pPr marL="0" lvl="0" indent="0" algn="l" rtl="0">
              <a:lnSpc>
                <a:spcPct val="115000"/>
              </a:lnSpc>
              <a:spcBef>
                <a:spcPts val="1200"/>
              </a:spcBef>
              <a:spcAft>
                <a:spcPts val="0"/>
              </a:spcAft>
              <a:buClr>
                <a:schemeClr val="dk1"/>
              </a:buClr>
              <a:buSzPts val="1100"/>
              <a:buFont typeface="Arial"/>
              <a:buNone/>
            </a:pPr>
            <a:r>
              <a:rPr lang="en-US" dirty="0"/>
              <a:t>First, our Visual Navigation engine. Instead of relying on indoor GPS algorithms which are notoriously inaccurate, our database maps out routes as sequential landmark nodes. The UI simply renders the correct media asset for each step.</a:t>
            </a:r>
            <a:endParaRPr dirty="0"/>
          </a:p>
          <a:p>
            <a:pPr marL="0" lvl="0" indent="0" algn="l" rtl="0">
              <a:lnSpc>
                <a:spcPct val="115000"/>
              </a:lnSpc>
              <a:spcBef>
                <a:spcPts val="1200"/>
              </a:spcBef>
              <a:spcAft>
                <a:spcPts val="0"/>
              </a:spcAft>
              <a:buClr>
                <a:schemeClr val="dk1"/>
              </a:buClr>
              <a:buSzPts val="1100"/>
              <a:buFont typeface="Arial"/>
              <a:buNone/>
            </a:pPr>
            <a:r>
              <a:rPr lang="en-US" dirty="0"/>
              <a:t>Second, the Live Waiting Screen. Our frontend continuously syncs with the backend queue state. </a:t>
            </a:r>
            <a:br>
              <a:rPr lang="en-US" dirty="0"/>
            </a:br>
            <a:r>
              <a:rPr lang="en-US" dirty="0"/>
              <a:t>The moment a staff member updates a department's status, the patient's session reflects their exact position and estimated wait time in real-time, without them ever needing to refresh the page.</a:t>
            </a:r>
            <a:endParaRPr dirty="0"/>
          </a:p>
          <a:p>
            <a:pPr marL="0" lvl="0" indent="0" algn="l" rtl="0">
              <a:lnSpc>
                <a:spcPct val="115000"/>
              </a:lnSpc>
              <a:spcBef>
                <a:spcPts val="1200"/>
              </a:spcBef>
              <a:spcAft>
                <a:spcPts val="0"/>
              </a:spcAft>
              <a:buClr>
                <a:schemeClr val="dk1"/>
              </a:buClr>
              <a:buSzPts val="1100"/>
              <a:buFont typeface="Arial"/>
              <a:buNone/>
            </a:pPr>
            <a:r>
              <a:rPr lang="en-US" dirty="0"/>
              <a:t>One deliberate constraint: the time shown is a rough estimate only. Our user research and hospital staff interviews made clear that precise times create frustration the moment reality come knocking in- emergencies jump the queue, tests run long. Since </a:t>
            </a:r>
            <a:r>
              <a:rPr lang="en-US" dirty="0" err="1"/>
              <a:t>MedAssist</a:t>
            </a:r>
            <a:r>
              <a:rPr lang="en-US" dirty="0"/>
              <a:t> doesn't plug into hospital internal systems, we calculate a ballpark figure from scheduled appointment windows and give Backoffice staff a broadcast action to push a delay update to all waiting patients in the department at once in case of a department delay.</a:t>
            </a:r>
            <a:endParaRPr dirty="0"/>
          </a:p>
          <a:p>
            <a:pPr marL="0" lvl="0" indent="0" algn="l" rtl="0">
              <a:lnSpc>
                <a:spcPct val="115000"/>
              </a:lnSpc>
              <a:spcBef>
                <a:spcPts val="1200"/>
              </a:spcBef>
              <a:spcAft>
                <a:spcPts val="1200"/>
              </a:spcAft>
              <a:buClr>
                <a:schemeClr val="dk1"/>
              </a:buClr>
              <a:buSzPts val="1100"/>
              <a:buFont typeface="Arial"/>
              <a:buNone/>
            </a:pPr>
            <a:endParaRPr dirty="0"/>
          </a:p>
        </p:txBody>
      </p:sp>
      <p:sp>
        <p:nvSpPr>
          <p:cNvPr id="146" name="Google Shape;146;g3e730759fec_0_1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a:p>
        </p:txBody>
      </p:sp>
      <p:sp>
        <p:nvSpPr>
          <p:cNvPr id="158" name="Google Shape;1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On the other side of the system is the staff dashboard. </a:t>
            </a:r>
            <a:br>
              <a:rPr lang="en-US" sz="1100" b="0" i="0" u="none" strike="noStrike">
                <a:solidFill>
                  <a:srgbClr val="000000"/>
                </a:solidFill>
                <a:latin typeface="Arial"/>
                <a:ea typeface="Arial"/>
                <a:cs typeface="Arial"/>
                <a:sym typeface="Arial"/>
              </a:rPr>
            </a:br>
            <a:r>
              <a:rPr lang="en-US" sz="1100" b="0" i="0" u="none" strike="noStrike">
                <a:solidFill>
                  <a:srgbClr val="000000"/>
                </a:solidFill>
                <a:latin typeface="Arial"/>
                <a:ea typeface="Arial"/>
                <a:cs typeface="Arial"/>
                <a:sym typeface="Arial"/>
              </a:rPr>
              <a:t>A nurse or receptionist sees every patient currently in their department: their name, their current phase - preparing, navigating, waiting, in treatment - and how long they've been waiting.</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Status updates are one tap. If there's a delay, staff broadcast a message to all waiting patients at once - it appears immediately on every patient's screen.</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For emergency patients who weren't scheduled in advance, staff generate an instant link that skips straight to the waiting screen.</a:t>
            </a:r>
            <a:br>
              <a:rPr lang="en-US" sz="1100" b="0">
                <a:latin typeface="Arial"/>
                <a:ea typeface="Arial"/>
                <a:cs typeface="Arial"/>
                <a:sym typeface="Arial"/>
              </a:rPr>
            </a:br>
            <a:br>
              <a:rPr lang="en-US" sz="1100" b="0">
                <a:latin typeface="Arial"/>
                <a:ea typeface="Arial"/>
                <a:cs typeface="Arial"/>
                <a:sym typeface="Arial"/>
              </a:rPr>
            </a:br>
            <a:endParaRPr sz="1100" b="0">
              <a:latin typeface="Arial"/>
              <a:ea typeface="Arial"/>
              <a:cs typeface="Arial"/>
              <a:sym typeface="Arial"/>
            </a:endParaRPr>
          </a:p>
        </p:txBody>
      </p:sp>
      <p:sp>
        <p:nvSpPr>
          <p:cNvPr id="177" name="Google Shape;17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B4ED3BC5-D5EE-EBC8-A8F8-3FE887805E02}"/>
            </a:ext>
          </a:extLst>
        </p:cNvPr>
        <p:cNvGrpSpPr/>
        <p:nvPr/>
      </p:nvGrpSpPr>
      <p:grpSpPr>
        <a:xfrm>
          <a:off x="0" y="0"/>
          <a:ext cx="0" cy="0"/>
          <a:chOff x="0" y="0"/>
          <a:chExt cx="0" cy="0"/>
        </a:xfrm>
      </p:grpSpPr>
      <p:sp>
        <p:nvSpPr>
          <p:cNvPr id="176" name="Google Shape;176;p5:notes">
            <a:extLst>
              <a:ext uri="{FF2B5EF4-FFF2-40B4-BE49-F238E27FC236}">
                <a16:creationId xmlns:a16="http://schemas.microsoft.com/office/drawing/2014/main" id="{36CF1C78-B84E-E5EC-A593-07069AD3A8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On the other side of the system is the staff dashboard. </a:t>
            </a:r>
            <a:br>
              <a:rPr lang="en-US" sz="1100" b="0" i="0" u="none" strike="noStrike">
                <a:solidFill>
                  <a:srgbClr val="000000"/>
                </a:solidFill>
                <a:latin typeface="Arial"/>
                <a:ea typeface="Arial"/>
                <a:cs typeface="Arial"/>
                <a:sym typeface="Arial"/>
              </a:rPr>
            </a:br>
            <a:r>
              <a:rPr lang="en-US" sz="1100" b="0" i="0" u="none" strike="noStrike">
                <a:solidFill>
                  <a:srgbClr val="000000"/>
                </a:solidFill>
                <a:latin typeface="Arial"/>
                <a:ea typeface="Arial"/>
                <a:cs typeface="Arial"/>
                <a:sym typeface="Arial"/>
              </a:rPr>
              <a:t>A nurse or receptionist sees every patient currently in their department: their name, their current phase - preparing, navigating, waiting, in treatment - and how long they've been waiting.</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Status updates are one tap. If there's a delay, staff broadcast a message to all waiting patients at once - it appears immediately on every patient's screen.</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For emergency patients who weren't scheduled in advance, staff generate an instant link that skips straight to the waiting screen.</a:t>
            </a:r>
            <a:br>
              <a:rPr lang="en-US" sz="1100" b="0">
                <a:latin typeface="Arial"/>
                <a:ea typeface="Arial"/>
                <a:cs typeface="Arial"/>
                <a:sym typeface="Arial"/>
              </a:rPr>
            </a:br>
            <a:br>
              <a:rPr lang="en-US" sz="1100" b="0">
                <a:latin typeface="Arial"/>
                <a:ea typeface="Arial"/>
                <a:cs typeface="Arial"/>
                <a:sym typeface="Arial"/>
              </a:rPr>
            </a:br>
            <a:endParaRPr sz="1100" b="0">
              <a:latin typeface="Arial"/>
              <a:ea typeface="Arial"/>
              <a:cs typeface="Arial"/>
              <a:sym typeface="Arial"/>
            </a:endParaRPr>
          </a:p>
        </p:txBody>
      </p:sp>
      <p:sp>
        <p:nvSpPr>
          <p:cNvPr id="177" name="Google Shape;177;p5:notes">
            <a:extLst>
              <a:ext uri="{FF2B5EF4-FFF2-40B4-BE49-F238E27FC236}">
                <a16:creationId xmlns:a16="http://schemas.microsoft.com/office/drawing/2014/main" id="{8BB3D970-F41C-C5FA-CE65-2C37B0BA1D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6609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12156F42-C798-A5A6-6C6C-BBFB7B2A3DA7}"/>
            </a:ext>
          </a:extLst>
        </p:cNvPr>
        <p:cNvGrpSpPr/>
        <p:nvPr/>
      </p:nvGrpSpPr>
      <p:grpSpPr>
        <a:xfrm>
          <a:off x="0" y="0"/>
          <a:ext cx="0" cy="0"/>
          <a:chOff x="0" y="0"/>
          <a:chExt cx="0" cy="0"/>
        </a:xfrm>
      </p:grpSpPr>
      <p:sp>
        <p:nvSpPr>
          <p:cNvPr id="176" name="Google Shape;176;p5:notes">
            <a:extLst>
              <a:ext uri="{FF2B5EF4-FFF2-40B4-BE49-F238E27FC236}">
                <a16:creationId xmlns:a16="http://schemas.microsoft.com/office/drawing/2014/main" id="{D4890968-2AFF-C509-9C48-9749E39537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On the other side of the system is the staff dashboard. </a:t>
            </a:r>
            <a:br>
              <a:rPr lang="en-US" sz="1100" b="0" i="0" u="none" strike="noStrike">
                <a:solidFill>
                  <a:srgbClr val="000000"/>
                </a:solidFill>
                <a:latin typeface="Arial"/>
                <a:ea typeface="Arial"/>
                <a:cs typeface="Arial"/>
                <a:sym typeface="Arial"/>
              </a:rPr>
            </a:br>
            <a:r>
              <a:rPr lang="en-US" sz="1100" b="0" i="0" u="none" strike="noStrike">
                <a:solidFill>
                  <a:srgbClr val="000000"/>
                </a:solidFill>
                <a:latin typeface="Arial"/>
                <a:ea typeface="Arial"/>
                <a:cs typeface="Arial"/>
                <a:sym typeface="Arial"/>
              </a:rPr>
              <a:t>A nurse or receptionist sees every patient currently in their department: their name, their current phase - preparing, navigating, waiting, in treatment - and how long they've been waiting.</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Status updates are one tap. If there's a delay, staff broadcast a message to all waiting patients at once - it appears immediately on every patient's screen.</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For emergency patients who weren't scheduled in advance, staff generate an instant link that skips straight to the waiting screen.</a:t>
            </a:r>
            <a:br>
              <a:rPr lang="en-US" sz="1100" b="0">
                <a:latin typeface="Arial"/>
                <a:ea typeface="Arial"/>
                <a:cs typeface="Arial"/>
                <a:sym typeface="Arial"/>
              </a:rPr>
            </a:br>
            <a:br>
              <a:rPr lang="en-US" sz="1100" b="0">
                <a:latin typeface="Arial"/>
                <a:ea typeface="Arial"/>
                <a:cs typeface="Arial"/>
                <a:sym typeface="Arial"/>
              </a:rPr>
            </a:br>
            <a:endParaRPr sz="1100" b="0">
              <a:latin typeface="Arial"/>
              <a:ea typeface="Arial"/>
              <a:cs typeface="Arial"/>
              <a:sym typeface="Arial"/>
            </a:endParaRPr>
          </a:p>
        </p:txBody>
      </p:sp>
      <p:sp>
        <p:nvSpPr>
          <p:cNvPr id="177" name="Google Shape;177;p5:notes">
            <a:extLst>
              <a:ext uri="{FF2B5EF4-FFF2-40B4-BE49-F238E27FC236}">
                <a16:creationId xmlns:a16="http://schemas.microsoft.com/office/drawing/2014/main" id="{9AA1DF28-BD9B-2A56-094C-D9B9D6BE9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4040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marR="0" lvl="0" indent="-171450" algn="l" rtl="0">
              <a:lnSpc>
                <a:spcPct val="100000"/>
              </a:lnSpc>
              <a:spcBef>
                <a:spcPts val="0"/>
              </a:spcBef>
              <a:spcAft>
                <a:spcPts val="0"/>
              </a:spcAft>
              <a:buClr>
                <a:srgbClr val="000000"/>
              </a:buClr>
              <a:buSzPts val="1100"/>
              <a:buChar char="●"/>
            </a:pPr>
            <a:r>
              <a:rPr lang="en-US" sz="1100" b="0" i="0" u="none" strike="noStrike">
                <a:solidFill>
                  <a:srgbClr val="000000"/>
                </a:solidFill>
                <a:latin typeface="Arial"/>
                <a:ea typeface="Arial"/>
                <a:cs typeface="Arial"/>
                <a:sym typeface="Arial"/>
              </a:rPr>
              <a:t>Crucially, we employ Privacy by Design: no clinical or sensitive medical records are stored on our servers, ensuring full compliance with Israeli Privacy Laws and GDPR (General Data Protection Regulation).</a:t>
            </a:r>
            <a:endParaRPr/>
          </a:p>
          <a:p>
            <a:pPr marL="171450" marR="0" lvl="0" indent="-171450" algn="l" rtl="0">
              <a:lnSpc>
                <a:spcPct val="100000"/>
              </a:lnSpc>
              <a:spcBef>
                <a:spcPts val="0"/>
              </a:spcBef>
              <a:spcAft>
                <a:spcPts val="0"/>
              </a:spcAft>
              <a:buClr>
                <a:srgbClr val="000000"/>
              </a:buClr>
              <a:buSzPts val="1100"/>
              <a:buChar char="●"/>
            </a:pPr>
            <a:r>
              <a:rPr lang="en-US" sz="1100" b="0" i="0" u="none" strike="noStrike">
                <a:solidFill>
                  <a:srgbClr val="000000"/>
                </a:solidFill>
                <a:latin typeface="Arial"/>
                <a:ea typeface="Arial"/>
                <a:cs typeface="Arial"/>
                <a:sym typeface="Arial"/>
              </a:rPr>
              <a:t>Hospital administrators configure everything through a back-office panel - no developers needed. </a:t>
            </a:r>
            <a:br>
              <a:rPr lang="en-US" sz="1100" b="0" i="0" u="none" strike="noStrike">
                <a:solidFill>
                  <a:srgbClr val="000000"/>
                </a:solidFill>
                <a:latin typeface="Arial"/>
                <a:ea typeface="Arial"/>
                <a:cs typeface="Arial"/>
                <a:sym typeface="Arial"/>
              </a:rPr>
            </a:br>
            <a:r>
              <a:rPr lang="en-US" sz="1100" b="0" i="0" u="none" strike="noStrike">
                <a:solidFill>
                  <a:srgbClr val="000000"/>
                </a:solidFill>
                <a:latin typeface="Arial"/>
                <a:ea typeface="Arial"/>
                <a:cs typeface="Arial"/>
                <a:sym typeface="Arial"/>
              </a:rPr>
              <a:t>They upload navigation photos for each department, build procedure-specific checklists, manage form templates, and set exactly how many days before each procedure the SMS goes out.</a:t>
            </a:r>
            <a:endParaRPr/>
          </a:p>
          <a:p>
            <a:pPr marL="171450" marR="0" lvl="0" indent="-171450" algn="l" rtl="0">
              <a:lnSpc>
                <a:spcPct val="100000"/>
              </a:lnSpc>
              <a:spcBef>
                <a:spcPts val="0"/>
              </a:spcBef>
              <a:spcAft>
                <a:spcPts val="0"/>
              </a:spcAft>
              <a:buClr>
                <a:srgbClr val="000000"/>
              </a:buClr>
              <a:buSzPts val="1100"/>
              <a:buChar char="●"/>
            </a:pPr>
            <a:r>
              <a:rPr lang="en-US" sz="1100" b="0" i="0" u="none" strike="noStrike">
                <a:solidFill>
                  <a:srgbClr val="000000"/>
                </a:solidFill>
                <a:latin typeface="Arial"/>
                <a:ea typeface="Arial"/>
                <a:cs typeface="Arial"/>
                <a:sym typeface="Arial"/>
              </a:rPr>
              <a:t>New department? New checklist? Done in minutes, not months.</a:t>
            </a:r>
            <a:br>
              <a:rPr lang="en-US" sz="1100" b="0">
                <a:latin typeface="Arial"/>
                <a:ea typeface="Arial"/>
                <a:cs typeface="Arial"/>
                <a:sym typeface="Arial"/>
              </a:rPr>
            </a:br>
            <a:br>
              <a:rPr lang="en-US" sz="1100" b="0">
                <a:latin typeface="Arial"/>
                <a:ea typeface="Arial"/>
                <a:cs typeface="Arial"/>
                <a:sym typeface="Arial"/>
              </a:rPr>
            </a:br>
            <a:endParaRPr sz="1100" b="0" i="0">
              <a:latin typeface="Arial"/>
              <a:ea typeface="Arial"/>
              <a:cs typeface="Arial"/>
              <a:sym typeface="Arial"/>
            </a:endParaRPr>
          </a:p>
        </p:txBody>
      </p:sp>
      <p:sp>
        <p:nvSpPr>
          <p:cNvPr id="192" name="Google Shape;1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3433E7DA-6BAE-C0B1-51A1-2C6F7DB20C73}"/>
            </a:ext>
          </a:extLst>
        </p:cNvPr>
        <p:cNvGrpSpPr/>
        <p:nvPr/>
      </p:nvGrpSpPr>
      <p:grpSpPr>
        <a:xfrm>
          <a:off x="0" y="0"/>
          <a:ext cx="0" cy="0"/>
          <a:chOff x="0" y="0"/>
          <a:chExt cx="0" cy="0"/>
        </a:xfrm>
      </p:grpSpPr>
      <p:sp>
        <p:nvSpPr>
          <p:cNvPr id="176" name="Google Shape;176;p5:notes">
            <a:extLst>
              <a:ext uri="{FF2B5EF4-FFF2-40B4-BE49-F238E27FC236}">
                <a16:creationId xmlns:a16="http://schemas.microsoft.com/office/drawing/2014/main" id="{59D347EC-062D-6238-B301-74E568E4B0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On the other side of the system is the staff dashboard. </a:t>
            </a:r>
            <a:br>
              <a:rPr lang="en-US" sz="1100" b="0" i="0" u="none" strike="noStrike">
                <a:solidFill>
                  <a:srgbClr val="000000"/>
                </a:solidFill>
                <a:latin typeface="Arial"/>
                <a:ea typeface="Arial"/>
                <a:cs typeface="Arial"/>
                <a:sym typeface="Arial"/>
              </a:rPr>
            </a:br>
            <a:r>
              <a:rPr lang="en-US" sz="1100" b="0" i="0" u="none" strike="noStrike">
                <a:solidFill>
                  <a:srgbClr val="000000"/>
                </a:solidFill>
                <a:latin typeface="Arial"/>
                <a:ea typeface="Arial"/>
                <a:cs typeface="Arial"/>
                <a:sym typeface="Arial"/>
              </a:rPr>
              <a:t>A nurse or receptionist sees every patient currently in their department: their name, their current phase - preparing, navigating, waiting, in treatment - and how long they've been waiting.</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Status updates are one tap. If there's a delay, staff broadcast a message to all waiting patients at once - it appears immediately on every patient's screen.</a:t>
            </a:r>
            <a:endParaRPr/>
          </a:p>
          <a:p>
            <a:pPr marL="254000" marR="381000" lvl="0" indent="-171450" algn="l" rtl="0">
              <a:lnSpc>
                <a:spcPct val="100000"/>
              </a:lnSpc>
              <a:spcBef>
                <a:spcPts val="0"/>
              </a:spcBef>
              <a:spcAft>
                <a:spcPts val="0"/>
              </a:spcAft>
              <a:buSzPts val="1100"/>
              <a:buChar char="●"/>
            </a:pPr>
            <a:r>
              <a:rPr lang="en-US" sz="1100" b="0" i="0" u="none" strike="noStrike">
                <a:solidFill>
                  <a:srgbClr val="000000"/>
                </a:solidFill>
                <a:latin typeface="Arial"/>
                <a:ea typeface="Arial"/>
                <a:cs typeface="Arial"/>
                <a:sym typeface="Arial"/>
              </a:rPr>
              <a:t>For emergency patients who weren't scheduled in advance, staff generate an instant link that skips straight to the waiting screen.</a:t>
            </a:r>
            <a:br>
              <a:rPr lang="en-US" sz="1100" b="0">
                <a:latin typeface="Arial"/>
                <a:ea typeface="Arial"/>
                <a:cs typeface="Arial"/>
                <a:sym typeface="Arial"/>
              </a:rPr>
            </a:br>
            <a:br>
              <a:rPr lang="en-US" sz="1100" b="0">
                <a:latin typeface="Arial"/>
                <a:ea typeface="Arial"/>
                <a:cs typeface="Arial"/>
                <a:sym typeface="Arial"/>
              </a:rPr>
            </a:br>
            <a:endParaRPr sz="1100" b="0">
              <a:latin typeface="Arial"/>
              <a:ea typeface="Arial"/>
              <a:cs typeface="Arial"/>
              <a:sym typeface="Arial"/>
            </a:endParaRPr>
          </a:p>
        </p:txBody>
      </p:sp>
      <p:sp>
        <p:nvSpPr>
          <p:cNvPr id="177" name="Google Shape;177;p5:notes">
            <a:extLst>
              <a:ext uri="{FF2B5EF4-FFF2-40B4-BE49-F238E27FC236}">
                <a16:creationId xmlns:a16="http://schemas.microsoft.com/office/drawing/2014/main" id="{69ECB94D-2627-0162-922A-4AF8C1E329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1153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381000" lvl="0" indent="0" algn="l" rtl="0">
              <a:lnSpc>
                <a:spcPct val="100000"/>
              </a:lnSpc>
              <a:spcBef>
                <a:spcPts val="0"/>
              </a:spcBef>
              <a:spcAft>
                <a:spcPts val="0"/>
              </a:spcAft>
              <a:buNone/>
            </a:pPr>
            <a:br>
              <a:rPr lang="en-US" sz="1100" b="0">
                <a:latin typeface="Arial"/>
                <a:ea typeface="Arial"/>
                <a:cs typeface="Arial"/>
                <a:sym typeface="Arial"/>
              </a:rPr>
            </a:br>
            <a:endParaRPr sz="1100" b="0">
              <a:latin typeface="Arial"/>
              <a:ea typeface="Arial"/>
              <a:cs typeface="Arial"/>
              <a:sym typeface="Arial"/>
            </a:endParaRPr>
          </a:p>
        </p:txBody>
      </p:sp>
      <p:sp>
        <p:nvSpPr>
          <p:cNvPr id="205" name="Google Shape;2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730759fec_15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82550" marR="381000" lvl="0" indent="0" algn="l" rtl="0">
              <a:lnSpc>
                <a:spcPct val="100000"/>
              </a:lnSpc>
              <a:spcBef>
                <a:spcPts val="0"/>
              </a:spcBef>
              <a:spcAft>
                <a:spcPts val="0"/>
              </a:spcAft>
              <a:buSzPts val="1100"/>
              <a:buNone/>
            </a:pPr>
            <a:endParaRPr sz="1100" dirty="0"/>
          </a:p>
        </p:txBody>
      </p:sp>
      <p:sp>
        <p:nvSpPr>
          <p:cNvPr id="231" name="Google Shape;231;g3e730759fec_15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7"/>
          <p:cNvSpPr>
            <a:spLocks noGrp="1"/>
          </p:cNvSpPr>
          <p:nvPr>
            <p:ph type="pic" idx="2"/>
          </p:nvPr>
        </p:nvSpPr>
        <p:spPr>
          <a:xfrm>
            <a:off x="1792288" y="612775"/>
            <a:ext cx="5486400" cy="4114800"/>
          </a:xfrm>
          <a:prstGeom prst="rect">
            <a:avLst/>
          </a:prstGeom>
          <a:noFill/>
          <a:ln>
            <a:noFill/>
          </a:ln>
        </p:spPr>
      </p:sp>
      <p:sp>
        <p:nvSpPr>
          <p:cNvPr id="64" name="Google Shape;64;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e730759fec_60_0)">
  <p:cSld name="Generated (g3e730759fec_60_0)">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www.figma.com/make/9TPeDcgFrDrfvRapHDTPIt/MedAssist-Patient-PWA---midterms?t=JX2juUMiYgNhMQ4g-20&amp;fullscreen=1" TargetMode="Externa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slide" Target="slide8.xml"/><Relationship Id="rId4" Type="http://schemas.openxmlformats.org/officeDocument/2006/relationships/image" Target="../media/image19.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png"/><Relationship Id="rId7"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3"/>
        <p:cNvGrpSpPr/>
        <p:nvPr/>
      </p:nvGrpSpPr>
      <p:grpSpPr>
        <a:xfrm>
          <a:off x="0" y="0"/>
          <a:ext cx="0" cy="0"/>
          <a:chOff x="0" y="0"/>
          <a:chExt cx="0" cy="0"/>
        </a:xfrm>
      </p:grpSpPr>
      <p:pic>
        <p:nvPicPr>
          <p:cNvPr id="94" name="Google Shape;94;g3e730759fec_0_93" descr="A high-resolution, professional wide-angle shot of a clean, modern hospital waiting area with comfortable wooden chairs and soft, cinematic lighting. The background should be slightly out of focus to allow text to stand out, with a cool blue and teal color palette."/>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95" name="Google Shape;95;g3e730759fec_0_93"/>
          <p:cNvSpPr/>
          <p:nvPr/>
        </p:nvSpPr>
        <p:spPr>
          <a:xfrm>
            <a:off x="0" y="0"/>
            <a:ext cx="12192000" cy="6858000"/>
          </a:xfrm>
          <a:prstGeom prst="rect">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96" name="Google Shape;96;g3e730759fec_0_93"/>
          <p:cNvGrpSpPr/>
          <p:nvPr/>
        </p:nvGrpSpPr>
        <p:grpSpPr>
          <a:xfrm>
            <a:off x="571500" y="1714500"/>
            <a:ext cx="7620000" cy="1428900"/>
            <a:chOff x="571500" y="1714500"/>
            <a:chExt cx="7620000" cy="1428900"/>
          </a:xfrm>
        </p:grpSpPr>
        <p:sp>
          <p:nvSpPr>
            <p:cNvPr id="97" name="Google Shape;97;g3e730759fec_0_93"/>
            <p:cNvSpPr/>
            <p:nvPr/>
          </p:nvSpPr>
          <p:spPr>
            <a:xfrm>
              <a:off x="571500" y="1714500"/>
              <a:ext cx="7620000" cy="1428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 name="Google Shape;98;g3e730759fec_0_93"/>
            <p:cNvSpPr txBox="1"/>
            <p:nvPr/>
          </p:nvSpPr>
          <p:spPr>
            <a:xfrm>
              <a:off x="571500" y="1714500"/>
              <a:ext cx="76200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200" b="1">
                  <a:solidFill>
                    <a:srgbClr val="FFFFFF"/>
                  </a:solidFill>
                  <a:latin typeface="Poppins"/>
                  <a:ea typeface="Poppins"/>
                  <a:cs typeface="Poppins"/>
                  <a:sym typeface="Poppins"/>
                </a:rPr>
                <a:t>MedAssist</a:t>
              </a:r>
              <a:endParaRPr sz="8200" b="1">
                <a:solidFill>
                  <a:srgbClr val="FFFFFF"/>
                </a:solidFill>
                <a:latin typeface="Poppins"/>
                <a:ea typeface="Poppins"/>
                <a:cs typeface="Poppins"/>
                <a:sym typeface="Poppins"/>
              </a:endParaRPr>
            </a:p>
          </p:txBody>
        </p:sp>
      </p:grpSp>
      <p:grpSp>
        <p:nvGrpSpPr>
          <p:cNvPr id="99" name="Google Shape;99;g3e730759fec_0_93"/>
          <p:cNvGrpSpPr/>
          <p:nvPr/>
        </p:nvGrpSpPr>
        <p:grpSpPr>
          <a:xfrm>
            <a:off x="571500" y="3048000"/>
            <a:ext cx="7620000" cy="762000"/>
            <a:chOff x="571500" y="3048000"/>
            <a:chExt cx="7620000" cy="762000"/>
          </a:xfrm>
        </p:grpSpPr>
        <p:sp>
          <p:nvSpPr>
            <p:cNvPr id="100" name="Google Shape;100;g3e730759fec_0_93"/>
            <p:cNvSpPr/>
            <p:nvPr/>
          </p:nvSpPr>
          <p:spPr>
            <a:xfrm>
              <a:off x="571500" y="3048000"/>
              <a:ext cx="76200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g3e730759fec_0_93"/>
            <p:cNvSpPr txBox="1"/>
            <p:nvPr/>
          </p:nvSpPr>
          <p:spPr>
            <a:xfrm>
              <a:off x="571500" y="3048000"/>
              <a:ext cx="7620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600" b="0">
                  <a:solidFill>
                    <a:srgbClr val="3B82F6"/>
                  </a:solidFill>
                  <a:latin typeface="Poppins SemiBold"/>
                  <a:ea typeface="Poppins SemiBold"/>
                  <a:cs typeface="Poppins SemiBold"/>
                  <a:sym typeface="Poppins SemiBold"/>
                </a:rPr>
                <a:t>Patient Journey Companion</a:t>
              </a:r>
              <a:endParaRPr sz="3600" b="0">
                <a:solidFill>
                  <a:srgbClr val="3B82F6"/>
                </a:solidFill>
                <a:latin typeface="Poppins SemiBold"/>
                <a:ea typeface="Poppins SemiBold"/>
                <a:cs typeface="Poppins SemiBold"/>
                <a:sym typeface="Poppins SemiBold"/>
              </a:endParaRPr>
            </a:p>
          </p:txBody>
        </p:sp>
      </p:grpSp>
      <p:sp>
        <p:nvSpPr>
          <p:cNvPr id="102" name="Google Shape;102;g3e730759fec_0_93"/>
          <p:cNvSpPr/>
          <p:nvPr/>
        </p:nvSpPr>
        <p:spPr>
          <a:xfrm>
            <a:off x="571500" y="4000500"/>
            <a:ext cx="952500" cy="573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3" name="Google Shape;103;g3e730759fec_0_93"/>
          <p:cNvGrpSpPr/>
          <p:nvPr/>
        </p:nvGrpSpPr>
        <p:grpSpPr>
          <a:xfrm>
            <a:off x="571500" y="4286250"/>
            <a:ext cx="7620000" cy="571500"/>
            <a:chOff x="571500" y="4286250"/>
            <a:chExt cx="7620000" cy="571500"/>
          </a:xfrm>
        </p:grpSpPr>
        <p:sp>
          <p:nvSpPr>
            <p:cNvPr id="104" name="Google Shape;104;g3e730759fec_0_93"/>
            <p:cNvSpPr/>
            <p:nvPr/>
          </p:nvSpPr>
          <p:spPr>
            <a:xfrm>
              <a:off x="571500" y="4286250"/>
              <a:ext cx="7620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5" name="Google Shape;105;g3e730759fec_0_93"/>
            <p:cNvSpPr txBox="1"/>
            <p:nvPr/>
          </p:nvSpPr>
          <p:spPr>
            <a:xfrm>
              <a:off x="571500" y="4286250"/>
              <a:ext cx="76200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000" b="0">
                  <a:solidFill>
                    <a:srgbClr val="CBD5E1"/>
                  </a:solidFill>
                  <a:latin typeface="Inter"/>
                  <a:ea typeface="Inter"/>
                  <a:cs typeface="Inter"/>
                  <a:sym typeface="Inter"/>
                </a:rPr>
                <a:t>From Your Home to The Treatment Room</a:t>
              </a:r>
              <a:endParaRPr sz="2000" b="0">
                <a:solidFill>
                  <a:srgbClr val="CBD5E1"/>
                </a:solidFill>
                <a:latin typeface="Inter"/>
                <a:ea typeface="Inter"/>
                <a:cs typeface="Inter"/>
                <a:sym typeface="Inter"/>
              </a:endParaRPr>
            </a:p>
          </p:txBody>
        </p:sp>
      </p:grpSp>
      <p:grpSp>
        <p:nvGrpSpPr>
          <p:cNvPr id="106" name="Google Shape;106;g3e730759fec_0_93"/>
          <p:cNvGrpSpPr/>
          <p:nvPr/>
        </p:nvGrpSpPr>
        <p:grpSpPr>
          <a:xfrm>
            <a:off x="571500" y="5905500"/>
            <a:ext cx="11049000" cy="571500"/>
            <a:chOff x="571500" y="5905500"/>
            <a:chExt cx="11049000" cy="571500"/>
          </a:xfrm>
        </p:grpSpPr>
        <p:sp>
          <p:nvSpPr>
            <p:cNvPr id="107" name="Google Shape;107;g3e730759fec_0_93"/>
            <p:cNvSpPr/>
            <p:nvPr/>
          </p:nvSpPr>
          <p:spPr>
            <a:xfrm>
              <a:off x="571500" y="5905500"/>
              <a:ext cx="11049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 name="Google Shape;108;g3e730759fec_0_93"/>
            <p:cNvSpPr txBox="1"/>
            <p:nvPr/>
          </p:nvSpPr>
          <p:spPr>
            <a:xfrm>
              <a:off x="571500" y="5905500"/>
              <a:ext cx="11049000" cy="571500"/>
            </a:xfrm>
            <a:prstGeom prst="rect">
              <a:avLst/>
            </a:prstGeom>
            <a:noFill/>
            <a:ln>
              <a:noFill/>
            </a:ln>
          </p:spPr>
          <p:txBody>
            <a:bodyPr spcFirstLastPara="1" wrap="square" lIns="0" tIns="190500" rIns="0" bIns="0" anchor="b" anchorCtr="0">
              <a:noAutofit/>
            </a:bodyPr>
            <a:lstStyle/>
            <a:p>
              <a:pPr marL="0" lvl="0" indent="0" algn="l" rtl="0">
                <a:spcBef>
                  <a:spcPts val="0"/>
                </a:spcBef>
                <a:spcAft>
                  <a:spcPts val="0"/>
                </a:spcAft>
                <a:buNone/>
              </a:pPr>
              <a:r>
                <a:rPr lang="en-US" sz="1400" b="0">
                  <a:solidFill>
                    <a:srgbClr val="94A3B8"/>
                  </a:solidFill>
                  <a:latin typeface="Inter Medium"/>
                  <a:ea typeface="Inter Medium"/>
                  <a:cs typeface="Inter Medium"/>
                  <a:sym typeface="Inter Medium"/>
                </a:rPr>
                <a:t>Roy Davidovich | Tal Ayoun</a:t>
              </a:r>
              <a:br>
                <a:rPr lang="en-US">
                  <a:solidFill>
                    <a:srgbClr val="64748B"/>
                  </a:solidFill>
                  <a:latin typeface="Inter"/>
                  <a:ea typeface="Inter"/>
                  <a:cs typeface="Inter"/>
                  <a:sym typeface="Inter"/>
                </a:rPr>
              </a:br>
              <a:r>
                <a:rPr lang="en-US">
                  <a:solidFill>
                    <a:srgbClr val="64748B"/>
                  </a:solidFill>
                  <a:latin typeface="Inter"/>
                  <a:ea typeface="Inter"/>
                  <a:cs typeface="Inter"/>
                  <a:sym typeface="Inter"/>
                </a:rPr>
                <a:t>Hub Workshop - 2026</a:t>
              </a:r>
              <a:endParaRPr>
                <a:solidFill>
                  <a:srgbClr val="64748B"/>
                </a:solidFill>
                <a:latin typeface="Inter"/>
                <a:ea typeface="Inter"/>
                <a:cs typeface="Inter"/>
                <a:sym typeface="Inte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2"/>
        <p:cNvGrpSpPr/>
        <p:nvPr/>
      </p:nvGrpSpPr>
      <p:grpSpPr>
        <a:xfrm>
          <a:off x="0" y="0"/>
          <a:ext cx="0" cy="0"/>
          <a:chOff x="0" y="0"/>
          <a:chExt cx="0" cy="0"/>
        </a:xfrm>
      </p:grpSpPr>
      <p:sp>
        <p:nvSpPr>
          <p:cNvPr id="113" name="Google Shape;113;g3e730759fec_0_950"/>
          <p:cNvSpPr txBox="1"/>
          <p:nvPr/>
        </p:nvSpPr>
        <p:spPr>
          <a:xfrm>
            <a:off x="571500" y="571500"/>
            <a:ext cx="76200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200" b="1">
                <a:solidFill>
                  <a:srgbClr val="FFFFFF"/>
                </a:solidFill>
                <a:latin typeface="Poppins"/>
                <a:ea typeface="Poppins"/>
                <a:cs typeface="Poppins"/>
                <a:sym typeface="Poppins"/>
              </a:rPr>
              <a:t>INTRO</a:t>
            </a:r>
            <a:endParaRPr sz="8200" b="1">
              <a:solidFill>
                <a:srgbClr val="FFFFFF"/>
              </a:solidFill>
              <a:latin typeface="Poppins"/>
              <a:ea typeface="Poppins"/>
              <a:cs typeface="Poppins"/>
              <a:sym typeface="Poppins"/>
            </a:endParaRPr>
          </a:p>
        </p:txBody>
      </p:sp>
      <p:grpSp>
        <p:nvGrpSpPr>
          <p:cNvPr id="114" name="Google Shape;114;g3e730759fec_0_950"/>
          <p:cNvGrpSpPr/>
          <p:nvPr/>
        </p:nvGrpSpPr>
        <p:grpSpPr>
          <a:xfrm>
            <a:off x="571500" y="2476500"/>
            <a:ext cx="3429000" cy="3810150"/>
            <a:chOff x="571500" y="2476500"/>
            <a:chExt cx="3429000" cy="3810150"/>
          </a:xfrm>
        </p:grpSpPr>
        <p:sp>
          <p:nvSpPr>
            <p:cNvPr id="115" name="Google Shape;115;g3e730759fec_0_950"/>
            <p:cNvSpPr txBox="1"/>
            <p:nvPr/>
          </p:nvSpPr>
          <p:spPr>
            <a:xfrm>
              <a:off x="571500" y="2476500"/>
              <a:ext cx="3429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THE PROBLEM</a:t>
              </a:r>
              <a:endParaRPr sz="1800" b="1">
                <a:solidFill>
                  <a:srgbClr val="3B82F6"/>
                </a:solidFill>
                <a:latin typeface="Poppins"/>
                <a:ea typeface="Poppins"/>
                <a:cs typeface="Poppins"/>
                <a:sym typeface="Poppins"/>
              </a:endParaRPr>
            </a:p>
          </p:txBody>
        </p:sp>
        <p:sp>
          <p:nvSpPr>
            <p:cNvPr id="116" name="Google Shape;116;g3e730759fec_0_950"/>
            <p:cNvSpPr txBox="1"/>
            <p:nvPr/>
          </p:nvSpPr>
          <p:spPr>
            <a:xfrm>
              <a:off x="571500" y="2952750"/>
              <a:ext cx="3429000" cy="3333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FFFFFF"/>
                  </a:solidFill>
                  <a:latin typeface="Inter"/>
                  <a:ea typeface="Inter"/>
                  <a:cs typeface="Inter"/>
                  <a:sym typeface="Inter"/>
                </a:rPr>
                <a:t>Modern hospitals are medical marvels but logistical nightmares. Overwhelmed patients, especially in emergencies, struggle with complex layouts and confusing paperwork. This cognitive barrier slows recovery, wastes staff time, and leads to costly missed appointments.</a:t>
              </a:r>
              <a:endParaRPr sz="1600" b="0">
                <a:solidFill>
                  <a:srgbClr val="FFFFFF"/>
                </a:solidFill>
                <a:latin typeface="Inter"/>
                <a:ea typeface="Inter"/>
                <a:cs typeface="Inter"/>
                <a:sym typeface="Inter"/>
              </a:endParaRPr>
            </a:p>
          </p:txBody>
        </p:sp>
      </p:grpSp>
      <p:grpSp>
        <p:nvGrpSpPr>
          <p:cNvPr id="117" name="Google Shape;117;g3e730759fec_0_950"/>
          <p:cNvGrpSpPr/>
          <p:nvPr/>
        </p:nvGrpSpPr>
        <p:grpSpPr>
          <a:xfrm>
            <a:off x="4381500" y="2476500"/>
            <a:ext cx="3429000" cy="3810150"/>
            <a:chOff x="4381500" y="2476500"/>
            <a:chExt cx="3429000" cy="3810150"/>
          </a:xfrm>
        </p:grpSpPr>
        <p:sp>
          <p:nvSpPr>
            <p:cNvPr id="118" name="Google Shape;118;g3e730759fec_0_950"/>
            <p:cNvSpPr txBox="1"/>
            <p:nvPr/>
          </p:nvSpPr>
          <p:spPr>
            <a:xfrm>
              <a:off x="4381500" y="2476500"/>
              <a:ext cx="3429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THE CHALLENGE</a:t>
              </a:r>
              <a:endParaRPr sz="1800" b="1">
                <a:solidFill>
                  <a:srgbClr val="3B82F6"/>
                </a:solidFill>
                <a:latin typeface="Poppins"/>
                <a:ea typeface="Poppins"/>
                <a:cs typeface="Poppins"/>
                <a:sym typeface="Poppins"/>
              </a:endParaRPr>
            </a:p>
          </p:txBody>
        </p:sp>
        <p:sp>
          <p:nvSpPr>
            <p:cNvPr id="119" name="Google Shape;119;g3e730759fec_0_950"/>
            <p:cNvSpPr txBox="1"/>
            <p:nvPr/>
          </p:nvSpPr>
          <p:spPr>
            <a:xfrm>
              <a:off x="4381500" y="2952750"/>
              <a:ext cx="3429000" cy="3333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FFFFFF"/>
                  </a:solidFill>
                  <a:latin typeface="Inter"/>
                  <a:ea typeface="Inter"/>
                  <a:cs typeface="Inter"/>
                  <a:sym typeface="Inter"/>
                </a:rPr>
                <a:t>To turn a fragmented, stressful arrival into a single, guided journey that ensures the patient is ready for treatment.</a:t>
              </a:r>
              <a:endParaRPr sz="1600" b="0">
                <a:solidFill>
                  <a:srgbClr val="FFFFFF"/>
                </a:solidFill>
                <a:latin typeface="Inter"/>
                <a:ea typeface="Inter"/>
                <a:cs typeface="Inter"/>
                <a:sym typeface="Inter"/>
              </a:endParaRPr>
            </a:p>
          </p:txBody>
        </p:sp>
      </p:grpSp>
      <p:grpSp>
        <p:nvGrpSpPr>
          <p:cNvPr id="120" name="Google Shape;120;g3e730759fec_0_950"/>
          <p:cNvGrpSpPr/>
          <p:nvPr/>
        </p:nvGrpSpPr>
        <p:grpSpPr>
          <a:xfrm>
            <a:off x="8191500" y="2476500"/>
            <a:ext cx="3429000" cy="3810150"/>
            <a:chOff x="8191500" y="2476500"/>
            <a:chExt cx="3429000" cy="3810150"/>
          </a:xfrm>
        </p:grpSpPr>
        <p:sp>
          <p:nvSpPr>
            <p:cNvPr id="121" name="Google Shape;121;g3e730759fec_0_950"/>
            <p:cNvSpPr txBox="1"/>
            <p:nvPr/>
          </p:nvSpPr>
          <p:spPr>
            <a:xfrm>
              <a:off x="8191500" y="2476500"/>
              <a:ext cx="34290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3B82F6"/>
                  </a:solidFill>
                  <a:latin typeface="Poppins"/>
                  <a:ea typeface="Poppins"/>
                  <a:cs typeface="Poppins"/>
                  <a:sym typeface="Poppins"/>
                </a:rPr>
                <a:t>THE SOLUTION</a:t>
              </a:r>
              <a:endParaRPr sz="1800" b="1">
                <a:solidFill>
                  <a:srgbClr val="3B82F6"/>
                </a:solidFill>
                <a:latin typeface="Poppins"/>
                <a:ea typeface="Poppins"/>
                <a:cs typeface="Poppins"/>
                <a:sym typeface="Poppins"/>
              </a:endParaRPr>
            </a:p>
          </p:txBody>
        </p:sp>
        <p:sp>
          <p:nvSpPr>
            <p:cNvPr id="122" name="Google Shape;122;g3e730759fec_0_950"/>
            <p:cNvSpPr txBox="1"/>
            <p:nvPr/>
          </p:nvSpPr>
          <p:spPr>
            <a:xfrm>
              <a:off x="8191500" y="2952750"/>
              <a:ext cx="3429000" cy="3333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600" b="0">
                  <a:solidFill>
                    <a:srgbClr val="FFFFFF"/>
                  </a:solidFill>
                  <a:latin typeface="Inter"/>
                  <a:ea typeface="Inter"/>
                  <a:cs typeface="Inter"/>
                  <a:sym typeface="Inter"/>
                </a:rPr>
                <a:t>A zero-install assistant that initiates contact with the patient to handle prep, paperwork, visual navigation, step-by-step directions, and motivation.</a:t>
              </a:r>
              <a:endParaRPr sz="1600" b="0">
                <a:solidFill>
                  <a:srgbClr val="FFFFFF"/>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6"/>
        <p:cNvGrpSpPr/>
        <p:nvPr/>
      </p:nvGrpSpPr>
      <p:grpSpPr>
        <a:xfrm>
          <a:off x="0" y="0"/>
          <a:ext cx="0" cy="0"/>
          <a:chOff x="0" y="0"/>
          <a:chExt cx="0" cy="0"/>
        </a:xfrm>
      </p:grpSpPr>
      <p:pic>
        <p:nvPicPr>
          <p:cNvPr id="127" name="Google Shape;127;p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8" name="Google Shape;128;p2" descr="image.png"/>
          <p:cNvPicPr preferRelativeResize="0"/>
          <p:nvPr/>
        </p:nvPicPr>
        <p:blipFill rotWithShape="1">
          <a:blip r:embed="rId4">
            <a:alphaModFix/>
          </a:blip>
          <a:srcRect/>
          <a:stretch/>
        </p:blipFill>
        <p:spPr>
          <a:xfrm>
            <a:off x="571500" y="1733550"/>
            <a:ext cx="3429000" cy="4552950"/>
          </a:xfrm>
          <a:prstGeom prst="rect">
            <a:avLst/>
          </a:prstGeom>
          <a:noFill/>
          <a:ln>
            <a:noFill/>
          </a:ln>
        </p:spPr>
      </p:pic>
      <p:pic>
        <p:nvPicPr>
          <p:cNvPr id="129" name="Google Shape;129;p2" descr="image.png"/>
          <p:cNvPicPr preferRelativeResize="0"/>
          <p:nvPr/>
        </p:nvPicPr>
        <p:blipFill rotWithShape="1">
          <a:blip r:embed="rId5">
            <a:alphaModFix/>
          </a:blip>
          <a:srcRect/>
          <a:stretch/>
        </p:blipFill>
        <p:spPr>
          <a:xfrm>
            <a:off x="4381500" y="1733550"/>
            <a:ext cx="3429000" cy="4552950"/>
          </a:xfrm>
          <a:prstGeom prst="rect">
            <a:avLst/>
          </a:prstGeom>
          <a:noFill/>
          <a:ln>
            <a:noFill/>
          </a:ln>
        </p:spPr>
      </p:pic>
      <p:pic>
        <p:nvPicPr>
          <p:cNvPr id="130" name="Google Shape;130;p2" descr="image.png"/>
          <p:cNvPicPr preferRelativeResize="0"/>
          <p:nvPr/>
        </p:nvPicPr>
        <p:blipFill rotWithShape="1">
          <a:blip r:embed="rId5">
            <a:alphaModFix/>
          </a:blip>
          <a:srcRect/>
          <a:stretch/>
        </p:blipFill>
        <p:spPr>
          <a:xfrm>
            <a:off x="8191500" y="1733550"/>
            <a:ext cx="3429000" cy="4552950"/>
          </a:xfrm>
          <a:prstGeom prst="rect">
            <a:avLst/>
          </a:prstGeom>
          <a:noFill/>
          <a:ln>
            <a:noFill/>
          </a:ln>
        </p:spPr>
      </p:pic>
      <p:pic>
        <p:nvPicPr>
          <p:cNvPr id="131" name="Google Shape;131;p2" descr="image.png"/>
          <p:cNvPicPr preferRelativeResize="0"/>
          <p:nvPr/>
        </p:nvPicPr>
        <p:blipFill rotWithShape="1">
          <a:blip r:embed="rId6">
            <a:alphaModFix/>
          </a:blip>
          <a:srcRect/>
          <a:stretch/>
        </p:blipFill>
        <p:spPr>
          <a:xfrm>
            <a:off x="1809750" y="2360563"/>
            <a:ext cx="952500" cy="952500"/>
          </a:xfrm>
          <a:prstGeom prst="rect">
            <a:avLst/>
          </a:prstGeom>
          <a:noFill/>
          <a:ln>
            <a:noFill/>
          </a:ln>
        </p:spPr>
      </p:pic>
      <p:sp>
        <p:nvSpPr>
          <p:cNvPr id="132" name="Google Shape;132;p2"/>
          <p:cNvSpPr txBox="1"/>
          <p:nvPr/>
        </p:nvSpPr>
        <p:spPr>
          <a:xfrm>
            <a:off x="1565909" y="3721078"/>
            <a:ext cx="1440300" cy="32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US" sz="2100" b="0" i="0" u="none" strike="noStrike" cap="none">
                <a:solidFill>
                  <a:srgbClr val="F8FAFC"/>
                </a:solidFill>
                <a:latin typeface="Poppins Medium"/>
                <a:ea typeface="Poppins Medium"/>
                <a:cs typeface="Poppins Medium"/>
                <a:sym typeface="Poppins Medium"/>
              </a:rPr>
              <a:t>1. SMS Link</a:t>
            </a:r>
            <a:endParaRPr sz="1400" b="0" i="0" u="none" strike="noStrike" cap="none">
              <a:solidFill>
                <a:srgbClr val="000000"/>
              </a:solidFill>
              <a:latin typeface="Arial"/>
              <a:ea typeface="Arial"/>
              <a:cs typeface="Arial"/>
              <a:sym typeface="Arial"/>
            </a:endParaRPr>
          </a:p>
        </p:txBody>
      </p:sp>
      <p:sp>
        <p:nvSpPr>
          <p:cNvPr id="133" name="Google Shape;133;p2"/>
          <p:cNvSpPr txBox="1"/>
          <p:nvPr/>
        </p:nvSpPr>
        <p:spPr>
          <a:xfrm>
            <a:off x="962025" y="4235053"/>
            <a:ext cx="2647950" cy="134064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650"/>
              <a:buFont typeface="Arial"/>
              <a:buNone/>
            </a:pPr>
            <a:r>
              <a:rPr lang="en-US" sz="1650" b="0" i="0" u="none" strike="noStrike" cap="none">
                <a:solidFill>
                  <a:srgbClr val="94A3B8"/>
                </a:solidFill>
                <a:latin typeface="Inter"/>
                <a:ea typeface="Inter"/>
                <a:cs typeface="Inter"/>
                <a:sym typeface="Inter"/>
              </a:rPr>
              <a:t>No app to download, no accounts, no passwords. Just a secure link sent directly to the patient.</a:t>
            </a:r>
            <a:endParaRPr sz="1400" b="0" i="0" u="none" strike="noStrike" cap="none">
              <a:solidFill>
                <a:srgbClr val="000000"/>
              </a:solidFill>
              <a:latin typeface="Arial"/>
              <a:ea typeface="Arial"/>
              <a:cs typeface="Arial"/>
              <a:sym typeface="Arial"/>
            </a:endParaRPr>
          </a:p>
        </p:txBody>
      </p:sp>
      <p:pic>
        <p:nvPicPr>
          <p:cNvPr id="134" name="Google Shape;134;p2" descr="image.png"/>
          <p:cNvPicPr preferRelativeResize="0"/>
          <p:nvPr/>
        </p:nvPicPr>
        <p:blipFill rotWithShape="1">
          <a:blip r:embed="rId7">
            <a:alphaModFix/>
          </a:blip>
          <a:srcRect/>
          <a:stretch/>
        </p:blipFill>
        <p:spPr>
          <a:xfrm>
            <a:off x="5619750" y="2360563"/>
            <a:ext cx="952500" cy="952500"/>
          </a:xfrm>
          <a:prstGeom prst="rect">
            <a:avLst/>
          </a:prstGeom>
          <a:noFill/>
          <a:ln>
            <a:noFill/>
          </a:ln>
        </p:spPr>
      </p:pic>
      <p:sp>
        <p:nvSpPr>
          <p:cNvPr id="135" name="Google Shape;135;p2"/>
          <p:cNvSpPr txBox="1"/>
          <p:nvPr/>
        </p:nvSpPr>
        <p:spPr>
          <a:xfrm>
            <a:off x="5400913" y="3721078"/>
            <a:ext cx="1390200" cy="32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US" sz="2100" b="0" i="0" u="none" strike="noStrike" cap="none">
                <a:solidFill>
                  <a:srgbClr val="F8FAFC"/>
                </a:solidFill>
                <a:latin typeface="Poppins Medium"/>
                <a:ea typeface="Poppins Medium"/>
                <a:cs typeface="Poppins Medium"/>
                <a:sym typeface="Poppins Medium"/>
              </a:rPr>
              <a:t>2. Prepare</a:t>
            </a:r>
            <a:endParaRPr sz="1400" b="0" i="0" u="none" strike="noStrike" cap="none">
              <a:solidFill>
                <a:srgbClr val="000000"/>
              </a:solidFill>
              <a:latin typeface="Arial"/>
              <a:ea typeface="Arial"/>
              <a:cs typeface="Arial"/>
              <a:sym typeface="Arial"/>
            </a:endParaRPr>
          </a:p>
        </p:txBody>
      </p:sp>
      <p:sp>
        <p:nvSpPr>
          <p:cNvPr id="136" name="Google Shape;136;p2"/>
          <p:cNvSpPr txBox="1"/>
          <p:nvPr/>
        </p:nvSpPr>
        <p:spPr>
          <a:xfrm>
            <a:off x="4772025" y="4235053"/>
            <a:ext cx="2647950" cy="16250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650"/>
              <a:buFont typeface="Arial"/>
              <a:buNone/>
            </a:pPr>
            <a:r>
              <a:rPr lang="en-US" sz="1650" b="0" i="0" u="none" strike="noStrike" cap="none">
                <a:solidFill>
                  <a:srgbClr val="94A3B8"/>
                </a:solidFill>
                <a:latin typeface="Inter"/>
                <a:ea typeface="Inter"/>
                <a:cs typeface="Inter"/>
                <a:sym typeface="Inter"/>
              </a:rPr>
              <a:t>A step-by-step checklist from home. Fasting instructions, what to bring, and digital forms.</a:t>
            </a:r>
            <a:endParaRPr sz="1400" b="0" i="0" u="none" strike="noStrike" cap="none">
              <a:solidFill>
                <a:srgbClr val="000000"/>
              </a:solidFill>
              <a:latin typeface="Arial"/>
              <a:ea typeface="Arial"/>
              <a:cs typeface="Arial"/>
              <a:sym typeface="Arial"/>
            </a:endParaRPr>
          </a:p>
        </p:txBody>
      </p:sp>
      <p:pic>
        <p:nvPicPr>
          <p:cNvPr id="137" name="Google Shape;137;p2" descr="image.png"/>
          <p:cNvPicPr preferRelativeResize="0"/>
          <p:nvPr/>
        </p:nvPicPr>
        <p:blipFill rotWithShape="1">
          <a:blip r:embed="rId8">
            <a:alphaModFix/>
          </a:blip>
          <a:srcRect/>
          <a:stretch/>
        </p:blipFill>
        <p:spPr>
          <a:xfrm>
            <a:off x="9429750" y="2360563"/>
            <a:ext cx="952500" cy="952500"/>
          </a:xfrm>
          <a:prstGeom prst="rect">
            <a:avLst/>
          </a:prstGeom>
          <a:noFill/>
          <a:ln>
            <a:noFill/>
          </a:ln>
        </p:spPr>
      </p:pic>
      <p:sp>
        <p:nvSpPr>
          <p:cNvPr id="138" name="Google Shape;138;p2"/>
          <p:cNvSpPr txBox="1"/>
          <p:nvPr/>
        </p:nvSpPr>
        <p:spPr>
          <a:xfrm>
            <a:off x="9455943" y="3721078"/>
            <a:ext cx="900000" cy="323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en-US" sz="2100" b="0" i="0" u="none" strike="noStrike" cap="none">
                <a:solidFill>
                  <a:srgbClr val="F8FAFC"/>
                </a:solidFill>
                <a:latin typeface="Poppins Medium"/>
                <a:ea typeface="Poppins Medium"/>
                <a:cs typeface="Poppins Medium"/>
                <a:sym typeface="Poppins Medium"/>
              </a:rPr>
              <a:t>3. Visit</a:t>
            </a:r>
            <a:endParaRPr sz="1400" b="0" i="0" u="none" strike="noStrike" cap="none">
              <a:solidFill>
                <a:srgbClr val="000000"/>
              </a:solidFill>
              <a:latin typeface="Arial"/>
              <a:ea typeface="Arial"/>
              <a:cs typeface="Arial"/>
              <a:sym typeface="Arial"/>
            </a:endParaRPr>
          </a:p>
        </p:txBody>
      </p:sp>
      <p:sp>
        <p:nvSpPr>
          <p:cNvPr id="139" name="Google Shape;139;p2"/>
          <p:cNvSpPr txBox="1"/>
          <p:nvPr/>
        </p:nvSpPr>
        <p:spPr>
          <a:xfrm>
            <a:off x="8582025" y="4200822"/>
            <a:ext cx="2764800" cy="1473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Clr>
                <a:srgbClr val="000000"/>
              </a:buClr>
              <a:buSzPts val="1650"/>
              <a:buFont typeface="Arial"/>
              <a:buNone/>
            </a:pPr>
            <a:r>
              <a:rPr lang="en-US" sz="1650" b="0" i="0" u="none" strike="noStrike" cap="none">
                <a:solidFill>
                  <a:srgbClr val="94A3B8"/>
                </a:solidFill>
                <a:latin typeface="Inter"/>
                <a:ea typeface="Inter"/>
                <a:cs typeface="Inter"/>
                <a:sym typeface="Inter"/>
              </a:rPr>
              <a:t>In-hospital photo navigation and a live waiting-room status screen updated in real-time.</a:t>
            </a:r>
            <a:endParaRPr sz="1400" b="0" i="0" u="none" strike="noStrike" cap="none">
              <a:solidFill>
                <a:srgbClr val="000000"/>
              </a:solidFill>
              <a:latin typeface="Arial"/>
              <a:ea typeface="Arial"/>
              <a:cs typeface="Arial"/>
              <a:sym typeface="Arial"/>
            </a:endParaRPr>
          </a:p>
        </p:txBody>
      </p:sp>
      <p:pic>
        <p:nvPicPr>
          <p:cNvPr id="140" name="Google Shape;140;p2" descr="image.png"/>
          <p:cNvPicPr preferRelativeResize="0"/>
          <p:nvPr/>
        </p:nvPicPr>
        <p:blipFill rotWithShape="1">
          <a:blip r:embed="rId9">
            <a:alphaModFix/>
          </a:blip>
          <a:srcRect/>
          <a:stretch/>
        </p:blipFill>
        <p:spPr>
          <a:xfrm>
            <a:off x="2057400" y="2608212"/>
            <a:ext cx="457200" cy="457200"/>
          </a:xfrm>
          <a:prstGeom prst="rect">
            <a:avLst/>
          </a:prstGeom>
          <a:noFill/>
          <a:ln>
            <a:noFill/>
          </a:ln>
        </p:spPr>
      </p:pic>
      <p:pic>
        <p:nvPicPr>
          <p:cNvPr id="141" name="Google Shape;141;p2" descr="image.png"/>
          <p:cNvPicPr preferRelativeResize="0"/>
          <p:nvPr/>
        </p:nvPicPr>
        <p:blipFill rotWithShape="1">
          <a:blip r:embed="rId10">
            <a:alphaModFix/>
          </a:blip>
          <a:srcRect/>
          <a:stretch/>
        </p:blipFill>
        <p:spPr>
          <a:xfrm>
            <a:off x="5924550" y="2608212"/>
            <a:ext cx="342900" cy="457200"/>
          </a:xfrm>
          <a:prstGeom prst="rect">
            <a:avLst/>
          </a:prstGeom>
          <a:noFill/>
          <a:ln>
            <a:noFill/>
          </a:ln>
        </p:spPr>
      </p:pic>
      <p:pic>
        <p:nvPicPr>
          <p:cNvPr id="142" name="Google Shape;142;p2" descr="image.png"/>
          <p:cNvPicPr preferRelativeResize="0"/>
          <p:nvPr/>
        </p:nvPicPr>
        <p:blipFill rotWithShape="1">
          <a:blip r:embed="rId11">
            <a:alphaModFix/>
          </a:blip>
          <a:srcRect/>
          <a:stretch/>
        </p:blipFill>
        <p:spPr>
          <a:xfrm>
            <a:off x="9648825" y="2608212"/>
            <a:ext cx="514350" cy="457200"/>
          </a:xfrm>
          <a:prstGeom prst="rect">
            <a:avLst/>
          </a:prstGeom>
          <a:noFill/>
          <a:ln>
            <a:noFill/>
          </a:ln>
        </p:spPr>
      </p:pic>
      <p:sp>
        <p:nvSpPr>
          <p:cNvPr id="143" name="Google Shape;143;p2"/>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One SMS. The entire visit, handled.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7"/>
        <p:cNvGrpSpPr/>
        <p:nvPr/>
      </p:nvGrpSpPr>
      <p:grpSpPr>
        <a:xfrm>
          <a:off x="0" y="0"/>
          <a:ext cx="0" cy="0"/>
          <a:chOff x="0" y="0"/>
          <a:chExt cx="0" cy="0"/>
        </a:xfrm>
      </p:grpSpPr>
      <p:pic>
        <p:nvPicPr>
          <p:cNvPr id="148" name="Google Shape;148;g3e730759fec_0_125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9" name="Google Shape;149;g3e730759fec_0_1254"/>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The Black Hole </a:t>
            </a:r>
            <a:endParaRPr sz="1400" b="0" i="0" u="none" strike="noStrike" cap="none">
              <a:solidFill>
                <a:srgbClr val="000000"/>
              </a:solidFill>
              <a:latin typeface="Arial"/>
              <a:ea typeface="Arial"/>
              <a:cs typeface="Arial"/>
              <a:sym typeface="Arial"/>
            </a:endParaRPr>
          </a:p>
        </p:txBody>
      </p:sp>
      <p:sp>
        <p:nvSpPr>
          <p:cNvPr id="150" name="Google Shape;150;g3e730759fec_0_1254"/>
          <p:cNvSpPr txBox="1"/>
          <p:nvPr/>
        </p:nvSpPr>
        <p:spPr>
          <a:xfrm>
            <a:off x="577883" y="1048185"/>
            <a:ext cx="8839200" cy="695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950" b="0" i="0" u="none" strike="noStrike" cap="none" dirty="0">
                <a:solidFill>
                  <a:srgbClr val="CBD5E1"/>
                </a:solidFill>
                <a:latin typeface="Inter"/>
                <a:ea typeface="Inter"/>
                <a:cs typeface="Inter"/>
                <a:sym typeface="Inter"/>
              </a:rPr>
              <a:t>Two problems no existing solution has solved end-to-end.</a:t>
            </a:r>
            <a:endParaRPr dirty="0"/>
          </a:p>
          <a:p>
            <a:pPr marL="0" marR="0" lvl="0" indent="0" algn="l" rtl="0">
              <a:lnSpc>
                <a:spcPct val="16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51" name="Google Shape;151;g3e730759fec_0_1254"/>
          <p:cNvSpPr txBox="1"/>
          <p:nvPr/>
        </p:nvSpPr>
        <p:spPr>
          <a:xfrm>
            <a:off x="2682230" y="1750753"/>
            <a:ext cx="2864700" cy="32316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100" b="0" i="0" u="none" strike="noStrike" cap="none" dirty="0">
                <a:solidFill>
                  <a:srgbClr val="F8FAFC"/>
                </a:solidFill>
                <a:latin typeface="Poppins Medium"/>
                <a:ea typeface="Poppins Medium"/>
                <a:cs typeface="Poppins Medium"/>
                <a:sym typeface="Poppins Medium"/>
              </a:rPr>
              <a:t>Visual Navigation</a:t>
            </a:r>
            <a:endParaRPr dirty="0"/>
          </a:p>
        </p:txBody>
      </p:sp>
      <p:sp>
        <p:nvSpPr>
          <p:cNvPr id="152" name="Google Shape;152;g3e730759fec_0_1254"/>
          <p:cNvSpPr txBox="1"/>
          <p:nvPr/>
        </p:nvSpPr>
        <p:spPr>
          <a:xfrm>
            <a:off x="7895734" y="1750752"/>
            <a:ext cx="2864700" cy="32316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2100" b="0" i="0" u="none" strike="noStrike" cap="none" dirty="0">
                <a:solidFill>
                  <a:srgbClr val="F8FAFC"/>
                </a:solidFill>
                <a:latin typeface="Poppins Medium"/>
                <a:ea typeface="Poppins Medium"/>
                <a:cs typeface="Poppins Medium"/>
                <a:sym typeface="Poppins Medium"/>
              </a:rPr>
              <a:t>Live Waiting Screen</a:t>
            </a:r>
            <a:endParaRPr dirty="0"/>
          </a:p>
        </p:txBody>
      </p:sp>
      <p:pic>
        <p:nvPicPr>
          <p:cNvPr id="153" name="Google Shape;153;g3e730759fec_0_1254"/>
          <p:cNvPicPr preferRelativeResize="0"/>
          <p:nvPr/>
        </p:nvPicPr>
        <p:blipFill rotWithShape="1">
          <a:blip r:embed="rId4">
            <a:alphaModFix/>
          </a:blip>
          <a:srcRect l="1672" b="13853"/>
          <a:stretch>
            <a:fillRect/>
          </a:stretch>
        </p:blipFill>
        <p:spPr>
          <a:xfrm>
            <a:off x="1569944" y="2275866"/>
            <a:ext cx="2359728" cy="4188732"/>
          </a:xfrm>
          <a:prstGeom prst="rect">
            <a:avLst/>
          </a:prstGeom>
          <a:noFill/>
          <a:ln>
            <a:noFill/>
          </a:ln>
        </p:spPr>
      </p:pic>
      <p:pic>
        <p:nvPicPr>
          <p:cNvPr id="154" name="Google Shape;154;g3e730759fec_0_1254"/>
          <p:cNvPicPr preferRelativeResize="0"/>
          <p:nvPr/>
        </p:nvPicPr>
        <p:blipFill rotWithShape="1">
          <a:blip r:embed="rId5">
            <a:alphaModFix/>
          </a:blip>
          <a:srcRect b="931"/>
          <a:stretch/>
        </p:blipFill>
        <p:spPr>
          <a:xfrm>
            <a:off x="4299488" y="2270641"/>
            <a:ext cx="2359728" cy="4188732"/>
          </a:xfrm>
          <a:prstGeom prst="rect">
            <a:avLst/>
          </a:prstGeom>
          <a:noFill/>
          <a:ln>
            <a:noFill/>
          </a:ln>
        </p:spPr>
      </p:pic>
      <p:pic>
        <p:nvPicPr>
          <p:cNvPr id="155" name="Google Shape;155;g3e730759fec_0_1254"/>
          <p:cNvPicPr preferRelativeResize="0"/>
          <p:nvPr/>
        </p:nvPicPr>
        <p:blipFill>
          <a:blip r:embed="rId6">
            <a:alphaModFix/>
          </a:blip>
          <a:stretch>
            <a:fillRect/>
          </a:stretch>
        </p:blipFill>
        <p:spPr>
          <a:xfrm>
            <a:off x="8148220" y="2270641"/>
            <a:ext cx="2359728" cy="41887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59"/>
        <p:cNvGrpSpPr/>
        <p:nvPr/>
      </p:nvGrpSpPr>
      <p:grpSpPr>
        <a:xfrm>
          <a:off x="0" y="0"/>
          <a:ext cx="0" cy="0"/>
          <a:chOff x="0" y="0"/>
          <a:chExt cx="0" cy="0"/>
        </a:xfrm>
      </p:grpSpPr>
      <p:pic>
        <p:nvPicPr>
          <p:cNvPr id="160" name="Google Shape;160;p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2" name="Google Shape;162;p4"/>
          <p:cNvSpPr txBox="1"/>
          <p:nvPr/>
        </p:nvSpPr>
        <p:spPr>
          <a:xfrm>
            <a:off x="571500" y="571500"/>
            <a:ext cx="5500687" cy="68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Patient View</a:t>
            </a:r>
            <a:endParaRPr sz="1400" b="0" i="0" u="none" strike="noStrike" cap="none">
              <a:solidFill>
                <a:srgbClr val="000000"/>
              </a:solidFill>
              <a:latin typeface="Arial"/>
              <a:ea typeface="Arial"/>
              <a:cs typeface="Arial"/>
              <a:sym typeface="Arial"/>
            </a:endParaRPr>
          </a:p>
        </p:txBody>
      </p:sp>
      <p:pic>
        <p:nvPicPr>
          <p:cNvPr id="163" name="Google Shape;163;p4" descr="image.png"/>
          <p:cNvPicPr preferRelativeResize="0"/>
          <p:nvPr/>
        </p:nvPicPr>
        <p:blipFill rotWithShape="1">
          <a:blip r:embed="rId4">
            <a:alphaModFix/>
          </a:blip>
          <a:srcRect b="61165"/>
          <a:stretch/>
        </p:blipFill>
        <p:spPr>
          <a:xfrm>
            <a:off x="6240871" y="1356728"/>
            <a:ext cx="5969000" cy="2898321"/>
          </a:xfrm>
          <a:prstGeom prst="rect">
            <a:avLst/>
          </a:prstGeom>
          <a:noFill/>
          <a:ln>
            <a:noFill/>
          </a:ln>
        </p:spPr>
      </p:pic>
      <p:sp>
        <p:nvSpPr>
          <p:cNvPr id="164" name="Google Shape;164;p4"/>
          <p:cNvSpPr txBox="1"/>
          <p:nvPr/>
        </p:nvSpPr>
        <p:spPr>
          <a:xfrm>
            <a:off x="686457" y="1651438"/>
            <a:ext cx="5500800" cy="354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US" sz="2300" b="0" i="0" u="none" strike="noStrike" cap="none">
                <a:solidFill>
                  <a:srgbClr val="3B82F6"/>
                </a:solidFill>
                <a:latin typeface="Poppins Medium"/>
                <a:ea typeface="Poppins Medium"/>
                <a:cs typeface="Poppins Medium"/>
                <a:sym typeface="Poppins Medium"/>
              </a:rPr>
              <a:t>The MedAssist Experience</a:t>
            </a:r>
            <a:endParaRPr sz="1600" b="0" i="0" u="none" strike="noStrike" cap="none">
              <a:solidFill>
                <a:srgbClr val="000000"/>
              </a:solidFill>
              <a:latin typeface="Arial"/>
              <a:ea typeface="Arial"/>
              <a:cs typeface="Arial"/>
              <a:sym typeface="Arial"/>
            </a:endParaRPr>
          </a:p>
        </p:txBody>
      </p:sp>
      <p:sp>
        <p:nvSpPr>
          <p:cNvPr id="165" name="Google Shape;165;p4"/>
          <p:cNvSpPr txBox="1"/>
          <p:nvPr/>
        </p:nvSpPr>
        <p:spPr>
          <a:xfrm>
            <a:off x="686447" y="2197972"/>
            <a:ext cx="6125700" cy="284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850">
                <a:solidFill>
                  <a:srgbClr val="94A3B8"/>
                </a:solidFill>
                <a:latin typeface="Inter"/>
                <a:ea typeface="Inter"/>
                <a:cs typeface="Inter"/>
                <a:sym typeface="Inter"/>
              </a:rPr>
              <a:t>Now let's switch to the live prototype to show</a:t>
            </a:r>
            <a:endParaRPr sz="1600" b="0" i="0" u="none" strike="noStrike" cap="none">
              <a:solidFill>
                <a:srgbClr val="000000"/>
              </a:solidFill>
              <a:latin typeface="Arial"/>
              <a:ea typeface="Arial"/>
              <a:cs typeface="Arial"/>
              <a:sym typeface="Arial"/>
            </a:endParaRPr>
          </a:p>
        </p:txBody>
      </p:sp>
      <p:sp>
        <p:nvSpPr>
          <p:cNvPr id="166" name="Google Shape;166;p4"/>
          <p:cNvSpPr txBox="1"/>
          <p:nvPr/>
        </p:nvSpPr>
        <p:spPr>
          <a:xfrm>
            <a:off x="762000" y="2943840"/>
            <a:ext cx="5048400" cy="284700"/>
          </a:xfrm>
          <a:prstGeom prst="rect">
            <a:avLst/>
          </a:prstGeom>
          <a:noFill/>
          <a:ln>
            <a:noFill/>
          </a:ln>
        </p:spPr>
        <p:txBody>
          <a:bodyPr spcFirstLastPara="1" wrap="square" lIns="295275"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850" b="0" i="0" u="none" strike="noStrike" cap="none">
                <a:solidFill>
                  <a:srgbClr val="94A3B8"/>
                </a:solidFill>
                <a:latin typeface="Inter"/>
                <a:ea typeface="Inter"/>
                <a:cs typeface="Inter"/>
                <a:sym typeface="Inter"/>
              </a:rPr>
              <a:t>SMS Notification</a:t>
            </a:r>
            <a:endParaRPr sz="1600" b="0" i="0" u="none" strike="noStrike" cap="none">
              <a:solidFill>
                <a:srgbClr val="000000"/>
              </a:solidFill>
              <a:latin typeface="Arial"/>
              <a:ea typeface="Arial"/>
              <a:cs typeface="Arial"/>
              <a:sym typeface="Arial"/>
            </a:endParaRPr>
          </a:p>
        </p:txBody>
      </p:sp>
      <p:sp>
        <p:nvSpPr>
          <p:cNvPr id="167" name="Google Shape;167;p4"/>
          <p:cNvSpPr txBox="1"/>
          <p:nvPr/>
        </p:nvSpPr>
        <p:spPr>
          <a:xfrm>
            <a:off x="762000" y="3393301"/>
            <a:ext cx="5048400" cy="284700"/>
          </a:xfrm>
          <a:prstGeom prst="rect">
            <a:avLst/>
          </a:prstGeom>
          <a:noFill/>
          <a:ln>
            <a:noFill/>
          </a:ln>
        </p:spPr>
        <p:txBody>
          <a:bodyPr spcFirstLastPara="1" wrap="square" lIns="295275"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850" b="0" i="0" u="none" strike="noStrike" cap="none">
                <a:solidFill>
                  <a:srgbClr val="94A3B8"/>
                </a:solidFill>
                <a:latin typeface="Inter"/>
                <a:ea typeface="Inter"/>
                <a:cs typeface="Inter"/>
                <a:sym typeface="Inter"/>
              </a:rPr>
              <a:t>Preparation Checklist</a:t>
            </a:r>
            <a:endParaRPr sz="1600" b="0" i="0" u="none" strike="noStrike" cap="none">
              <a:solidFill>
                <a:srgbClr val="000000"/>
              </a:solidFill>
              <a:latin typeface="Arial"/>
              <a:ea typeface="Arial"/>
              <a:cs typeface="Arial"/>
              <a:sym typeface="Arial"/>
            </a:endParaRPr>
          </a:p>
        </p:txBody>
      </p:sp>
      <p:sp>
        <p:nvSpPr>
          <p:cNvPr id="168" name="Google Shape;168;p4"/>
          <p:cNvSpPr txBox="1"/>
          <p:nvPr/>
        </p:nvSpPr>
        <p:spPr>
          <a:xfrm>
            <a:off x="762000" y="3842762"/>
            <a:ext cx="5048400" cy="284700"/>
          </a:xfrm>
          <a:prstGeom prst="rect">
            <a:avLst/>
          </a:prstGeom>
          <a:noFill/>
          <a:ln>
            <a:noFill/>
          </a:ln>
        </p:spPr>
        <p:txBody>
          <a:bodyPr spcFirstLastPara="1" wrap="square" lIns="295275"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850" b="0" i="0" u="none" strike="noStrike" cap="none">
                <a:solidFill>
                  <a:srgbClr val="94A3B8"/>
                </a:solidFill>
                <a:latin typeface="Inter"/>
                <a:ea typeface="Inter"/>
                <a:cs typeface="Inter"/>
                <a:sym typeface="Inter"/>
              </a:rPr>
              <a:t>Landmark Navigation</a:t>
            </a:r>
            <a:endParaRPr sz="1600" b="0" i="0" u="none" strike="noStrike" cap="none">
              <a:solidFill>
                <a:srgbClr val="000000"/>
              </a:solidFill>
              <a:latin typeface="Arial"/>
              <a:ea typeface="Arial"/>
              <a:cs typeface="Arial"/>
              <a:sym typeface="Arial"/>
            </a:endParaRPr>
          </a:p>
        </p:txBody>
      </p:sp>
      <p:sp>
        <p:nvSpPr>
          <p:cNvPr id="169" name="Google Shape;169;p4"/>
          <p:cNvSpPr txBox="1"/>
          <p:nvPr/>
        </p:nvSpPr>
        <p:spPr>
          <a:xfrm>
            <a:off x="762000" y="4292223"/>
            <a:ext cx="5048400" cy="284700"/>
          </a:xfrm>
          <a:prstGeom prst="rect">
            <a:avLst/>
          </a:prstGeom>
          <a:noFill/>
          <a:ln>
            <a:noFill/>
          </a:ln>
        </p:spPr>
        <p:txBody>
          <a:bodyPr spcFirstLastPara="1" wrap="square" lIns="295275"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850" b="0" i="0" u="none" strike="noStrike" cap="none">
                <a:solidFill>
                  <a:srgbClr val="94A3B8"/>
                </a:solidFill>
                <a:latin typeface="Inter"/>
                <a:ea typeface="Inter"/>
                <a:cs typeface="Inter"/>
                <a:sym typeface="Inter"/>
              </a:rPr>
              <a:t>Live Queue Status</a:t>
            </a:r>
            <a:endParaRPr sz="1600" b="0" i="0" u="none" strike="noStrike" cap="none">
              <a:solidFill>
                <a:srgbClr val="000000"/>
              </a:solidFill>
              <a:latin typeface="Arial"/>
              <a:ea typeface="Arial"/>
              <a:cs typeface="Arial"/>
              <a:sym typeface="Arial"/>
            </a:endParaRPr>
          </a:p>
        </p:txBody>
      </p:sp>
      <p:grpSp>
        <p:nvGrpSpPr>
          <p:cNvPr id="2" name="קבוצה 1">
            <a:extLst>
              <a:ext uri="{FF2B5EF4-FFF2-40B4-BE49-F238E27FC236}">
                <a16:creationId xmlns:a16="http://schemas.microsoft.com/office/drawing/2014/main" id="{F1C8A3AB-C243-6984-01B9-65FDA94B8F0A}"/>
              </a:ext>
            </a:extLst>
          </p:cNvPr>
          <p:cNvGrpSpPr/>
          <p:nvPr/>
        </p:nvGrpSpPr>
        <p:grpSpPr>
          <a:xfrm>
            <a:off x="942975" y="5829300"/>
            <a:ext cx="1336750" cy="457200"/>
            <a:chOff x="762000" y="5829300"/>
            <a:chExt cx="1336750" cy="457200"/>
          </a:xfrm>
        </p:grpSpPr>
        <p:pic>
          <p:nvPicPr>
            <p:cNvPr id="161" name="Google Shape;161;p4" descr="image.png">
              <a:hlinkClick r:id="rId5"/>
            </p:cNvPr>
            <p:cNvPicPr preferRelativeResize="0"/>
            <p:nvPr/>
          </p:nvPicPr>
          <p:blipFill rotWithShape="1">
            <a:blip r:embed="rId6">
              <a:alphaModFix/>
            </a:blip>
            <a:srcRect l="6289" r="49579"/>
            <a:stretch/>
          </p:blipFill>
          <p:spPr>
            <a:xfrm>
              <a:off x="762000" y="5829300"/>
              <a:ext cx="1336750" cy="457200"/>
            </a:xfrm>
            <a:prstGeom prst="rect">
              <a:avLst/>
            </a:prstGeom>
            <a:noFill/>
            <a:ln>
              <a:solidFill>
                <a:schemeClr val="tx1"/>
              </a:solidFill>
            </a:ln>
          </p:spPr>
        </p:pic>
        <p:sp>
          <p:nvSpPr>
            <p:cNvPr id="170" name="Google Shape;170;p4"/>
            <p:cNvSpPr/>
            <p:nvPr/>
          </p:nvSpPr>
          <p:spPr>
            <a:xfrm>
              <a:off x="800100" y="6000750"/>
              <a:ext cx="114300" cy="114300"/>
            </a:xfrm>
            <a:prstGeom prst="roundRect">
              <a:avLst>
                <a:gd name="adj" fmla="val 50000"/>
              </a:avLst>
            </a:prstGeom>
            <a:solidFill>
              <a:srgbClr val="EF444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pic>
        <p:nvPicPr>
          <p:cNvPr id="171" name="Google Shape;171;p4" descr="image.png"/>
          <p:cNvPicPr preferRelativeResize="0"/>
          <p:nvPr/>
        </p:nvPicPr>
        <p:blipFill rotWithShape="1">
          <a:blip r:embed="rId7">
            <a:alphaModFix/>
          </a:blip>
          <a:srcRect/>
          <a:stretch/>
        </p:blipFill>
        <p:spPr>
          <a:xfrm>
            <a:off x="762000" y="2996228"/>
            <a:ext cx="180975" cy="219075"/>
          </a:xfrm>
          <a:prstGeom prst="rect">
            <a:avLst/>
          </a:prstGeom>
          <a:noFill/>
          <a:ln>
            <a:noFill/>
          </a:ln>
        </p:spPr>
      </p:pic>
      <p:pic>
        <p:nvPicPr>
          <p:cNvPr id="172" name="Google Shape;172;p4" descr="image.png"/>
          <p:cNvPicPr preferRelativeResize="0"/>
          <p:nvPr/>
        </p:nvPicPr>
        <p:blipFill rotWithShape="1">
          <a:blip r:embed="rId7">
            <a:alphaModFix/>
          </a:blip>
          <a:srcRect/>
          <a:stretch/>
        </p:blipFill>
        <p:spPr>
          <a:xfrm>
            <a:off x="762000" y="3445689"/>
            <a:ext cx="180975" cy="219075"/>
          </a:xfrm>
          <a:prstGeom prst="rect">
            <a:avLst/>
          </a:prstGeom>
          <a:noFill/>
          <a:ln>
            <a:noFill/>
          </a:ln>
        </p:spPr>
      </p:pic>
      <p:pic>
        <p:nvPicPr>
          <p:cNvPr id="173" name="Google Shape;173;p4" descr="image.png"/>
          <p:cNvPicPr preferRelativeResize="0"/>
          <p:nvPr/>
        </p:nvPicPr>
        <p:blipFill rotWithShape="1">
          <a:blip r:embed="rId7">
            <a:alphaModFix/>
          </a:blip>
          <a:srcRect/>
          <a:stretch/>
        </p:blipFill>
        <p:spPr>
          <a:xfrm>
            <a:off x="762000" y="3895150"/>
            <a:ext cx="180975" cy="219075"/>
          </a:xfrm>
          <a:prstGeom prst="rect">
            <a:avLst/>
          </a:prstGeom>
          <a:noFill/>
          <a:ln>
            <a:noFill/>
          </a:ln>
        </p:spPr>
      </p:pic>
      <p:pic>
        <p:nvPicPr>
          <p:cNvPr id="174" name="Google Shape;174;p4" descr="image.png"/>
          <p:cNvPicPr preferRelativeResize="0"/>
          <p:nvPr/>
        </p:nvPicPr>
        <p:blipFill rotWithShape="1">
          <a:blip r:embed="rId7">
            <a:alphaModFix/>
          </a:blip>
          <a:srcRect/>
          <a:stretch/>
        </p:blipFill>
        <p:spPr>
          <a:xfrm>
            <a:off x="762000" y="4344611"/>
            <a:ext cx="180975" cy="21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8"/>
        <p:cNvGrpSpPr/>
        <p:nvPr/>
      </p:nvGrpSpPr>
      <p:grpSpPr>
        <a:xfrm>
          <a:off x="0" y="0"/>
          <a:ext cx="0" cy="0"/>
          <a:chOff x="0" y="0"/>
          <a:chExt cx="0" cy="0"/>
        </a:xfrm>
      </p:grpSpPr>
      <p:pic>
        <p:nvPicPr>
          <p:cNvPr id="179" name="Google Shape;179;p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5" descr="image.png"/>
          <p:cNvPicPr preferRelativeResize="0"/>
          <p:nvPr/>
        </p:nvPicPr>
        <p:blipFill rotWithShape="1">
          <a:blip r:embed="rId4">
            <a:alphaModFix/>
          </a:blip>
          <a:srcRect/>
          <a:stretch/>
        </p:blipFill>
        <p:spPr>
          <a:xfrm>
            <a:off x="9308523" y="1733550"/>
            <a:ext cx="2311977" cy="1695450"/>
          </a:xfrm>
          <a:prstGeom prst="rect">
            <a:avLst/>
          </a:prstGeom>
          <a:noFill/>
          <a:ln>
            <a:noFill/>
          </a:ln>
        </p:spPr>
      </p:pic>
      <p:sp>
        <p:nvSpPr>
          <p:cNvPr id="181" name="Google Shape;181;p5"/>
          <p:cNvSpPr txBox="1"/>
          <p:nvPr/>
        </p:nvSpPr>
        <p:spPr>
          <a:xfrm>
            <a:off x="914400" y="1977925"/>
            <a:ext cx="44196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Complete Visibility:</a:t>
            </a:r>
            <a:r>
              <a:rPr lang="en-US" sz="1650" b="0" i="0" u="none" strike="noStrike" cap="none">
                <a:solidFill>
                  <a:srgbClr val="94A3B8"/>
                </a:solidFill>
                <a:latin typeface="Inter"/>
                <a:ea typeface="Inter"/>
                <a:cs typeface="Inter"/>
                <a:sym typeface="Inter"/>
              </a:rPr>
              <a:t> A nurse or receptionist sees every patient currently in their department.</a:t>
            </a:r>
            <a:endParaRPr sz="1400" b="0" i="0" u="none" strike="noStrike" cap="none">
              <a:solidFill>
                <a:srgbClr val="000000"/>
              </a:solidFill>
              <a:latin typeface="Arial"/>
              <a:ea typeface="Arial"/>
              <a:cs typeface="Arial"/>
              <a:sym typeface="Arial"/>
            </a:endParaRPr>
          </a:p>
        </p:txBody>
      </p:sp>
      <p:sp>
        <p:nvSpPr>
          <p:cNvPr id="182" name="Google Shape;182;p5"/>
          <p:cNvSpPr txBox="1"/>
          <p:nvPr/>
        </p:nvSpPr>
        <p:spPr>
          <a:xfrm>
            <a:off x="914400" y="3212008"/>
            <a:ext cx="44196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Phase Tracking:</a:t>
            </a:r>
            <a:r>
              <a:rPr lang="en-US" sz="1650" b="0" i="0" u="none" strike="noStrike" cap="none">
                <a:solidFill>
                  <a:srgbClr val="94A3B8"/>
                </a:solidFill>
                <a:latin typeface="Inter"/>
                <a:ea typeface="Inter"/>
                <a:cs typeface="Inter"/>
                <a:sym typeface="Inter"/>
              </a:rPr>
              <a:t> Instantly know who is preparing, navigating, waiting, or in treatment.</a:t>
            </a:r>
            <a:endParaRPr sz="1400" b="0" i="0" u="none" strike="noStrike" cap="none">
              <a:solidFill>
                <a:srgbClr val="000000"/>
              </a:solidFill>
              <a:latin typeface="Arial"/>
              <a:ea typeface="Arial"/>
              <a:cs typeface="Arial"/>
              <a:sym typeface="Arial"/>
            </a:endParaRPr>
          </a:p>
        </p:txBody>
      </p:sp>
      <p:sp>
        <p:nvSpPr>
          <p:cNvPr id="183" name="Google Shape;183;p5"/>
          <p:cNvSpPr txBox="1"/>
          <p:nvPr/>
        </p:nvSpPr>
        <p:spPr>
          <a:xfrm>
            <a:off x="914400" y="4446091"/>
            <a:ext cx="44196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Mass Broadcasts:</a:t>
            </a:r>
            <a:r>
              <a:rPr lang="en-US" sz="1650" b="0" i="0" u="none" strike="noStrike" cap="none">
                <a:solidFill>
                  <a:srgbClr val="94A3B8"/>
                </a:solidFill>
                <a:latin typeface="Inter"/>
                <a:ea typeface="Inter"/>
                <a:cs typeface="Inter"/>
                <a:sym typeface="Inter"/>
              </a:rPr>
              <a:t> If there's a delay, staff can broadcast a message to all waiting patients at once.</a:t>
            </a:r>
            <a:endParaRPr sz="1400" b="0" i="0" u="none" strike="noStrike" cap="none">
              <a:solidFill>
                <a:srgbClr val="000000"/>
              </a:solidFill>
              <a:latin typeface="Arial"/>
              <a:ea typeface="Arial"/>
              <a:cs typeface="Arial"/>
              <a:sym typeface="Arial"/>
            </a:endParaRPr>
          </a:p>
        </p:txBody>
      </p:sp>
      <p:pic>
        <p:nvPicPr>
          <p:cNvPr id="184" name="Google Shape;184;p5" descr="image.png"/>
          <p:cNvPicPr preferRelativeResize="0"/>
          <p:nvPr/>
        </p:nvPicPr>
        <p:blipFill rotWithShape="1">
          <a:blip r:embed="rId5">
            <a:alphaModFix/>
          </a:blip>
          <a:srcRect/>
          <a:stretch/>
        </p:blipFill>
        <p:spPr>
          <a:xfrm>
            <a:off x="571500" y="2030313"/>
            <a:ext cx="238125" cy="219075"/>
          </a:xfrm>
          <a:prstGeom prst="rect">
            <a:avLst/>
          </a:prstGeom>
          <a:noFill/>
          <a:ln>
            <a:noFill/>
          </a:ln>
        </p:spPr>
      </p:pic>
      <p:pic>
        <p:nvPicPr>
          <p:cNvPr id="185" name="Google Shape;185;p5" descr="image.png"/>
          <p:cNvPicPr preferRelativeResize="0"/>
          <p:nvPr/>
        </p:nvPicPr>
        <p:blipFill rotWithShape="1">
          <a:blip r:embed="rId6">
            <a:alphaModFix/>
          </a:blip>
          <a:srcRect/>
          <a:stretch/>
        </p:blipFill>
        <p:spPr>
          <a:xfrm>
            <a:off x="571500" y="3264396"/>
            <a:ext cx="266700" cy="219075"/>
          </a:xfrm>
          <a:prstGeom prst="rect">
            <a:avLst/>
          </a:prstGeom>
          <a:noFill/>
          <a:ln>
            <a:noFill/>
          </a:ln>
        </p:spPr>
      </p:pic>
      <p:pic>
        <p:nvPicPr>
          <p:cNvPr id="186" name="Google Shape;186;p5" descr="image.png"/>
          <p:cNvPicPr preferRelativeResize="0"/>
          <p:nvPr/>
        </p:nvPicPr>
        <p:blipFill rotWithShape="1">
          <a:blip r:embed="rId7">
            <a:alphaModFix/>
          </a:blip>
          <a:srcRect/>
          <a:stretch/>
        </p:blipFill>
        <p:spPr>
          <a:xfrm>
            <a:off x="571500" y="4498478"/>
            <a:ext cx="238125" cy="219075"/>
          </a:xfrm>
          <a:prstGeom prst="rect">
            <a:avLst/>
          </a:prstGeom>
          <a:noFill/>
          <a:ln>
            <a:noFill/>
          </a:ln>
        </p:spPr>
      </p:pic>
      <p:sp>
        <p:nvSpPr>
          <p:cNvPr id="187" name="Google Shape;187;p5"/>
          <p:cNvSpPr txBox="1"/>
          <p:nvPr/>
        </p:nvSpPr>
        <p:spPr>
          <a:xfrm>
            <a:off x="571500" y="571500"/>
            <a:ext cx="11601450" cy="104644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Staff View</a:t>
            </a:r>
            <a:br>
              <a:rPr lang="en-US" sz="3600" b="0" i="0" u="none" strike="noStrike" cap="none">
                <a:solidFill>
                  <a:srgbClr val="F8FAFC"/>
                </a:solidFill>
                <a:latin typeface="Poppins SemiBold"/>
                <a:ea typeface="Poppins SemiBold"/>
                <a:cs typeface="Poppins SemiBold"/>
                <a:sym typeface="Poppins SemiBold"/>
              </a:rPr>
            </a:br>
            <a:r>
              <a:rPr lang="en-US" sz="3200" b="0" i="0" u="none" strike="noStrike" cap="none">
                <a:solidFill>
                  <a:srgbClr val="F8FAFC"/>
                </a:solidFill>
                <a:latin typeface="Poppins SemiBold"/>
                <a:ea typeface="Poppins SemiBold"/>
                <a:cs typeface="Poppins SemiBold"/>
                <a:sym typeface="Poppins SemiBold"/>
              </a:rPr>
              <a:t>Real-Time Department Dashboard</a:t>
            </a:r>
            <a:endParaRPr sz="1400" b="0" i="0" u="none" strike="noStrike" cap="none">
              <a:solidFill>
                <a:srgbClr val="000000"/>
              </a:solidFill>
              <a:latin typeface="Arial"/>
              <a:ea typeface="Arial"/>
              <a:cs typeface="Arial"/>
              <a:sym typeface="Arial"/>
            </a:endParaRPr>
          </a:p>
        </p:txBody>
      </p:sp>
      <p:pic>
        <p:nvPicPr>
          <p:cNvPr id="202" name="Google Shape;202;p6">
            <a:hlinkClick r:id="rId8" action="ppaction://hlinksldjump"/>
          </p:cNvPr>
          <p:cNvPicPr preferRelativeResize="0"/>
          <p:nvPr/>
        </p:nvPicPr>
        <p:blipFill>
          <a:blip r:embed="rId9">
            <a:alphaModFix/>
          </a:blip>
          <a:stretch>
            <a:fillRect/>
          </a:stretch>
        </p:blipFill>
        <p:spPr>
          <a:xfrm>
            <a:off x="7160838" y="1874556"/>
            <a:ext cx="4678949" cy="2514941"/>
          </a:xfrm>
          <a:prstGeom prst="rect">
            <a:avLst/>
          </a:prstGeom>
          <a:noFill/>
          <a:ln>
            <a:noFill/>
          </a:ln>
        </p:spPr>
      </p:pic>
      <p:pic>
        <p:nvPicPr>
          <p:cNvPr id="189" name="Google Shape;189;p5">
            <a:hlinkClick r:id="rId10" action="ppaction://hlinksldjump"/>
          </p:cNvPr>
          <p:cNvPicPr preferRelativeResize="0"/>
          <p:nvPr/>
        </p:nvPicPr>
        <p:blipFill>
          <a:blip r:embed="rId11">
            <a:alphaModFix/>
          </a:blip>
          <a:stretch>
            <a:fillRect/>
          </a:stretch>
        </p:blipFill>
        <p:spPr>
          <a:xfrm>
            <a:off x="5438775" y="3505642"/>
            <a:ext cx="4680563" cy="251579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0F172A"/>
        </a:solidFill>
        <a:effectLst/>
      </p:bgPr>
    </p:bg>
    <p:spTree>
      <p:nvGrpSpPr>
        <p:cNvPr id="1" name="Shape 178">
          <a:extLst>
            <a:ext uri="{FF2B5EF4-FFF2-40B4-BE49-F238E27FC236}">
              <a16:creationId xmlns:a16="http://schemas.microsoft.com/office/drawing/2014/main" id="{D6082C3D-19CE-D884-4681-3005A75BB9FB}"/>
            </a:ext>
          </a:extLst>
        </p:cNvPr>
        <p:cNvGrpSpPr/>
        <p:nvPr/>
      </p:nvGrpSpPr>
      <p:grpSpPr>
        <a:xfrm>
          <a:off x="0" y="0"/>
          <a:ext cx="0" cy="0"/>
          <a:chOff x="0" y="0"/>
          <a:chExt cx="0" cy="0"/>
        </a:xfrm>
      </p:grpSpPr>
      <p:pic>
        <p:nvPicPr>
          <p:cNvPr id="3" name="Google Shape;202;p6">
            <a:hlinkClick r:id="rId3" action="ppaction://hlinksldjump"/>
            <a:extLst>
              <a:ext uri="{FF2B5EF4-FFF2-40B4-BE49-F238E27FC236}">
                <a16:creationId xmlns:a16="http://schemas.microsoft.com/office/drawing/2014/main" id="{486A885B-4DFC-03F1-319F-B51BB381E9AE}"/>
              </a:ext>
            </a:extLst>
          </p:cNvPr>
          <p:cNvPicPr preferRelativeResize="0"/>
          <p:nvPr/>
        </p:nvPicPr>
        <p:blipFill>
          <a:blip r:embed="rId4">
            <a:alphaModFix/>
          </a:blip>
          <a:stretch>
            <a:fillRect/>
          </a:stretch>
        </p:blipFill>
        <p:spPr>
          <a:xfrm>
            <a:off x="0" y="0"/>
            <a:ext cx="12192000" cy="6858002"/>
          </a:xfrm>
          <a:prstGeom prst="rect">
            <a:avLst/>
          </a:prstGeom>
          <a:noFill/>
          <a:ln>
            <a:noFill/>
          </a:ln>
        </p:spPr>
      </p:pic>
    </p:spTree>
    <p:extLst>
      <p:ext uri="{BB962C8B-B14F-4D97-AF65-F5344CB8AC3E}">
        <p14:creationId xmlns:p14="http://schemas.microsoft.com/office/powerpoint/2010/main" val="2102320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0F172A"/>
        </a:solidFill>
        <a:effectLst/>
      </p:bgPr>
    </p:bg>
    <p:spTree>
      <p:nvGrpSpPr>
        <p:cNvPr id="1" name="Shape 178">
          <a:extLst>
            <a:ext uri="{FF2B5EF4-FFF2-40B4-BE49-F238E27FC236}">
              <a16:creationId xmlns:a16="http://schemas.microsoft.com/office/drawing/2014/main" id="{D834B80D-7707-19AF-E5C1-73FE0F9E5066}"/>
            </a:ext>
          </a:extLst>
        </p:cNvPr>
        <p:cNvGrpSpPr/>
        <p:nvPr/>
      </p:nvGrpSpPr>
      <p:grpSpPr>
        <a:xfrm>
          <a:off x="0" y="0"/>
          <a:ext cx="0" cy="0"/>
          <a:chOff x="0" y="0"/>
          <a:chExt cx="0" cy="0"/>
        </a:xfrm>
      </p:grpSpPr>
      <p:pic>
        <p:nvPicPr>
          <p:cNvPr id="189" name="Google Shape;189;p5">
            <a:hlinkClick r:id="rId3" action="ppaction://hlinksldjump"/>
            <a:extLst>
              <a:ext uri="{FF2B5EF4-FFF2-40B4-BE49-F238E27FC236}">
                <a16:creationId xmlns:a16="http://schemas.microsoft.com/office/drawing/2014/main" id="{53378719-BCA2-A9E1-EC3B-72BA3AB4A2C6}"/>
              </a:ext>
            </a:extLst>
          </p:cNvPr>
          <p:cNvPicPr preferRelativeResize="0"/>
          <p:nvPr/>
        </p:nvPicPr>
        <p:blipFill>
          <a:blip r:embed="rId4">
            <a:alphaModFix/>
          </a:blip>
          <a:stretch>
            <a:fillRect/>
          </a:stretch>
        </p:blipFill>
        <p:spPr>
          <a:xfrm>
            <a:off x="0" y="0"/>
            <a:ext cx="12192000" cy="6858002"/>
          </a:xfrm>
          <a:prstGeom prst="rect">
            <a:avLst/>
          </a:prstGeom>
          <a:noFill/>
          <a:ln>
            <a:noFill/>
          </a:ln>
        </p:spPr>
      </p:pic>
    </p:spTree>
    <p:extLst>
      <p:ext uri="{BB962C8B-B14F-4D97-AF65-F5344CB8AC3E}">
        <p14:creationId xmlns:p14="http://schemas.microsoft.com/office/powerpoint/2010/main" val="579657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p:cNvGrpSpPr/>
        <p:nvPr/>
      </p:nvGrpSpPr>
      <p:grpSpPr>
        <a:xfrm>
          <a:off x="0" y="0"/>
          <a:ext cx="0" cy="0"/>
          <a:chOff x="0" y="0"/>
          <a:chExt cx="0" cy="0"/>
        </a:xfrm>
      </p:grpSpPr>
      <p:pic>
        <p:nvPicPr>
          <p:cNvPr id="194" name="Google Shape;194;p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5" name="Google Shape;195;p6"/>
          <p:cNvSpPr txBox="1"/>
          <p:nvPr/>
        </p:nvSpPr>
        <p:spPr>
          <a:xfrm>
            <a:off x="914400" y="1977925"/>
            <a:ext cx="4419600" cy="12187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Zero Code Required:</a:t>
            </a:r>
            <a:r>
              <a:rPr lang="en-US" sz="1650" b="0" i="0" u="none" strike="noStrike" cap="none">
                <a:solidFill>
                  <a:srgbClr val="94A3B8"/>
                </a:solidFill>
                <a:latin typeface="Inter"/>
                <a:ea typeface="Inter"/>
                <a:cs typeface="Inter"/>
                <a:sym typeface="Inter"/>
              </a:rPr>
              <a:t> Hospital administrators configure everything through a simple back-office panel.</a:t>
            </a:r>
            <a:endParaRPr sz="1400" b="0" i="0" u="none" strike="noStrike" cap="none">
              <a:solidFill>
                <a:srgbClr val="000000"/>
              </a:solidFill>
              <a:latin typeface="Arial"/>
              <a:ea typeface="Arial"/>
              <a:cs typeface="Arial"/>
              <a:sym typeface="Arial"/>
            </a:endParaRPr>
          </a:p>
        </p:txBody>
      </p:sp>
      <p:sp>
        <p:nvSpPr>
          <p:cNvPr id="196" name="Google Shape;196;p6"/>
          <p:cNvSpPr txBox="1"/>
          <p:nvPr/>
        </p:nvSpPr>
        <p:spPr>
          <a:xfrm>
            <a:off x="914400" y="3212008"/>
            <a:ext cx="44196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Dynamic Routing:</a:t>
            </a:r>
            <a:r>
              <a:rPr lang="en-US" sz="1650" b="0" i="0" u="none" strike="noStrike" cap="none">
                <a:solidFill>
                  <a:srgbClr val="94A3B8"/>
                </a:solidFill>
                <a:latin typeface="Inter"/>
                <a:ea typeface="Inter"/>
                <a:cs typeface="Inter"/>
                <a:sym typeface="Inter"/>
              </a:rPr>
              <a:t> Upload navigation photos for each department and create new routes easily.</a:t>
            </a:r>
            <a:endParaRPr sz="1400" b="0" i="0" u="none" strike="noStrike" cap="none">
              <a:solidFill>
                <a:srgbClr val="000000"/>
              </a:solidFill>
              <a:latin typeface="Arial"/>
              <a:ea typeface="Arial"/>
              <a:cs typeface="Arial"/>
              <a:sym typeface="Arial"/>
            </a:endParaRPr>
          </a:p>
        </p:txBody>
      </p:sp>
      <p:sp>
        <p:nvSpPr>
          <p:cNvPr id="197" name="Google Shape;197;p6"/>
          <p:cNvSpPr txBox="1"/>
          <p:nvPr/>
        </p:nvSpPr>
        <p:spPr>
          <a:xfrm>
            <a:off x="914400" y="4446091"/>
            <a:ext cx="4419600" cy="12187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50" b="1" i="0" u="none" strike="noStrike" cap="none">
                <a:solidFill>
                  <a:srgbClr val="94A3B8"/>
                </a:solidFill>
                <a:latin typeface="Inter"/>
                <a:ea typeface="Inter"/>
                <a:cs typeface="Inter"/>
                <a:sym typeface="Inter"/>
              </a:rPr>
              <a:t>Custom Rules:</a:t>
            </a:r>
            <a:r>
              <a:rPr lang="en-US" sz="1650" b="0" i="0" u="none" strike="noStrike" cap="none">
                <a:solidFill>
                  <a:srgbClr val="94A3B8"/>
                </a:solidFill>
                <a:latin typeface="Inter"/>
                <a:ea typeface="Inter"/>
                <a:cs typeface="Inter"/>
                <a:sym typeface="Inter"/>
              </a:rPr>
              <a:t> Build procedure-specific checklists and set SMS delivery timelines (e.g., 24h vs 72h prior).</a:t>
            </a:r>
            <a:endParaRPr sz="1400" b="0" i="0" u="none" strike="noStrike" cap="none">
              <a:solidFill>
                <a:srgbClr val="000000"/>
              </a:solidFill>
              <a:latin typeface="Arial"/>
              <a:ea typeface="Arial"/>
              <a:cs typeface="Arial"/>
              <a:sym typeface="Arial"/>
            </a:endParaRPr>
          </a:p>
        </p:txBody>
      </p:sp>
      <p:pic>
        <p:nvPicPr>
          <p:cNvPr id="198" name="Google Shape;198;p6" descr="image.png"/>
          <p:cNvPicPr preferRelativeResize="0"/>
          <p:nvPr/>
        </p:nvPicPr>
        <p:blipFill rotWithShape="1">
          <a:blip r:embed="rId4">
            <a:alphaModFix/>
          </a:blip>
          <a:srcRect/>
          <a:stretch/>
        </p:blipFill>
        <p:spPr>
          <a:xfrm>
            <a:off x="571500" y="2030313"/>
            <a:ext cx="209550" cy="219075"/>
          </a:xfrm>
          <a:prstGeom prst="rect">
            <a:avLst/>
          </a:prstGeom>
          <a:noFill/>
          <a:ln>
            <a:noFill/>
          </a:ln>
        </p:spPr>
      </p:pic>
      <p:pic>
        <p:nvPicPr>
          <p:cNvPr id="199" name="Google Shape;199;p6" descr="image.png"/>
          <p:cNvPicPr preferRelativeResize="0"/>
          <p:nvPr/>
        </p:nvPicPr>
        <p:blipFill rotWithShape="1">
          <a:blip r:embed="rId5">
            <a:alphaModFix/>
          </a:blip>
          <a:srcRect/>
          <a:stretch/>
        </p:blipFill>
        <p:spPr>
          <a:xfrm>
            <a:off x="571500" y="3264396"/>
            <a:ext cx="133350" cy="219075"/>
          </a:xfrm>
          <a:prstGeom prst="rect">
            <a:avLst/>
          </a:prstGeom>
          <a:noFill/>
          <a:ln>
            <a:noFill/>
          </a:ln>
        </p:spPr>
      </p:pic>
      <p:pic>
        <p:nvPicPr>
          <p:cNvPr id="200" name="Google Shape;200;p6" descr="image.png"/>
          <p:cNvPicPr preferRelativeResize="0"/>
          <p:nvPr/>
        </p:nvPicPr>
        <p:blipFill rotWithShape="1">
          <a:blip r:embed="rId6">
            <a:alphaModFix/>
          </a:blip>
          <a:srcRect/>
          <a:stretch/>
        </p:blipFill>
        <p:spPr>
          <a:xfrm>
            <a:off x="571500" y="4498478"/>
            <a:ext cx="209550" cy="219075"/>
          </a:xfrm>
          <a:prstGeom prst="rect">
            <a:avLst/>
          </a:prstGeom>
          <a:noFill/>
          <a:ln>
            <a:noFill/>
          </a:ln>
        </p:spPr>
      </p:pic>
      <p:sp>
        <p:nvSpPr>
          <p:cNvPr id="201" name="Google Shape;201;p6"/>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No-Code Configuration by Admins</a:t>
            </a:r>
            <a:endParaRPr sz="1400" b="0" i="0" u="none" strike="noStrike" cap="none">
              <a:solidFill>
                <a:srgbClr val="000000"/>
              </a:solidFill>
              <a:latin typeface="Arial"/>
              <a:ea typeface="Arial"/>
              <a:cs typeface="Arial"/>
              <a:sym typeface="Arial"/>
            </a:endParaRPr>
          </a:p>
        </p:txBody>
      </p:sp>
      <p:pic>
        <p:nvPicPr>
          <p:cNvPr id="188" name="Google Shape;188;p5">
            <a:hlinkClick r:id="rId7" action="ppaction://hlinksldjump"/>
          </p:cNvPr>
          <p:cNvPicPr preferRelativeResize="0"/>
          <p:nvPr/>
        </p:nvPicPr>
        <p:blipFill>
          <a:blip r:embed="rId8">
            <a:alphaModFix/>
          </a:blip>
          <a:stretch>
            <a:fillRect/>
          </a:stretch>
        </p:blipFill>
        <p:spPr>
          <a:xfrm>
            <a:off x="5873369" y="2030313"/>
            <a:ext cx="5864089" cy="3151952"/>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0F172A"/>
        </a:solidFill>
        <a:effectLst/>
      </p:bgPr>
    </p:bg>
    <p:spTree>
      <p:nvGrpSpPr>
        <p:cNvPr id="1" name="Shape 178">
          <a:extLst>
            <a:ext uri="{FF2B5EF4-FFF2-40B4-BE49-F238E27FC236}">
              <a16:creationId xmlns:a16="http://schemas.microsoft.com/office/drawing/2014/main" id="{3675A8D8-5C51-C9EF-D819-7B19AC0BCF01}"/>
            </a:ext>
          </a:extLst>
        </p:cNvPr>
        <p:cNvGrpSpPr/>
        <p:nvPr/>
      </p:nvGrpSpPr>
      <p:grpSpPr>
        <a:xfrm>
          <a:off x="0" y="0"/>
          <a:ext cx="0" cy="0"/>
          <a:chOff x="0" y="0"/>
          <a:chExt cx="0" cy="0"/>
        </a:xfrm>
      </p:grpSpPr>
      <p:pic>
        <p:nvPicPr>
          <p:cNvPr id="188" name="Google Shape;188;p5">
            <a:hlinkClick r:id="rId3" action="ppaction://hlinksldjump"/>
            <a:extLst>
              <a:ext uri="{FF2B5EF4-FFF2-40B4-BE49-F238E27FC236}">
                <a16:creationId xmlns:a16="http://schemas.microsoft.com/office/drawing/2014/main" id="{D144CF5A-B753-3400-C562-41A984443589}"/>
              </a:ext>
            </a:extLst>
          </p:cNvPr>
          <p:cNvPicPr preferRelativeResize="0"/>
          <p:nvPr/>
        </p:nvPicPr>
        <p:blipFill>
          <a:blip r:embed="rId4">
            <a:alphaModFix/>
          </a:blip>
          <a:stretch>
            <a:fillRect/>
          </a:stretch>
        </p:blipFill>
        <p:spPr>
          <a:xfrm>
            <a:off x="0" y="-1"/>
            <a:ext cx="12192000" cy="6858001"/>
          </a:xfrm>
          <a:prstGeom prst="rect">
            <a:avLst/>
          </a:prstGeom>
          <a:noFill/>
          <a:ln>
            <a:noFill/>
          </a:ln>
        </p:spPr>
      </p:pic>
    </p:spTree>
    <p:extLst>
      <p:ext uri="{BB962C8B-B14F-4D97-AF65-F5344CB8AC3E}">
        <p14:creationId xmlns:p14="http://schemas.microsoft.com/office/powerpoint/2010/main" val="73130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6"/>
        <p:cNvGrpSpPr/>
        <p:nvPr/>
      </p:nvGrpSpPr>
      <p:grpSpPr>
        <a:xfrm>
          <a:off x="0" y="0"/>
          <a:ext cx="0" cy="0"/>
          <a:chOff x="0" y="0"/>
          <a:chExt cx="0" cy="0"/>
        </a:xfrm>
      </p:grpSpPr>
      <p:pic>
        <p:nvPicPr>
          <p:cNvPr id="207" name="Google Shape;207;p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8" name="Google Shape;208;p7" descr="image.png"/>
          <p:cNvPicPr preferRelativeResize="0"/>
          <p:nvPr/>
        </p:nvPicPr>
        <p:blipFill rotWithShape="1">
          <a:blip r:embed="rId4">
            <a:alphaModFix/>
          </a:blip>
          <a:srcRect/>
          <a:stretch/>
        </p:blipFill>
        <p:spPr>
          <a:xfrm>
            <a:off x="571500" y="1431131"/>
            <a:ext cx="5238750" cy="5157787"/>
          </a:xfrm>
          <a:prstGeom prst="rect">
            <a:avLst/>
          </a:prstGeom>
          <a:noFill/>
          <a:ln>
            <a:noFill/>
          </a:ln>
        </p:spPr>
      </p:pic>
      <p:pic>
        <p:nvPicPr>
          <p:cNvPr id="209" name="Google Shape;209;p7" descr="image.png"/>
          <p:cNvPicPr preferRelativeResize="0"/>
          <p:nvPr/>
        </p:nvPicPr>
        <p:blipFill rotWithShape="1">
          <a:blip r:embed="rId4">
            <a:alphaModFix/>
          </a:blip>
          <a:srcRect/>
          <a:stretch/>
        </p:blipFill>
        <p:spPr>
          <a:xfrm>
            <a:off x="6381750" y="1431131"/>
            <a:ext cx="5238750" cy="5157787"/>
          </a:xfrm>
          <a:prstGeom prst="rect">
            <a:avLst/>
          </a:prstGeom>
          <a:noFill/>
          <a:ln>
            <a:noFill/>
          </a:ln>
        </p:spPr>
      </p:pic>
      <p:sp>
        <p:nvSpPr>
          <p:cNvPr id="210" name="Google Shape;210;p7"/>
          <p:cNvSpPr txBox="1"/>
          <p:nvPr/>
        </p:nvSpPr>
        <p:spPr>
          <a:xfrm>
            <a:off x="1476375" y="1916906"/>
            <a:ext cx="4040505" cy="419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rgbClr val="F8FAFC"/>
                </a:solidFill>
                <a:latin typeface="Poppins Medium"/>
                <a:ea typeface="Poppins Medium"/>
                <a:cs typeface="Poppins Medium"/>
                <a:sym typeface="Poppins Medium"/>
              </a:rPr>
              <a:t>Currently Completed</a:t>
            </a:r>
            <a:endParaRPr sz="1400" b="0" i="0" u="none" strike="noStrike" cap="none">
              <a:solidFill>
                <a:srgbClr val="000000"/>
              </a:solidFill>
              <a:latin typeface="Arial"/>
              <a:ea typeface="Arial"/>
              <a:cs typeface="Arial"/>
              <a:sym typeface="Arial"/>
            </a:endParaRPr>
          </a:p>
        </p:txBody>
      </p:sp>
      <p:sp>
        <p:nvSpPr>
          <p:cNvPr id="211" name="Google Shape;211;p7"/>
          <p:cNvSpPr/>
          <p:nvPr/>
        </p:nvSpPr>
        <p:spPr>
          <a:xfrm>
            <a:off x="1057275" y="2507456"/>
            <a:ext cx="4267200" cy="190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2" name="Google Shape;212;p7"/>
          <p:cNvSpPr txBox="1"/>
          <p:nvPr/>
        </p:nvSpPr>
        <p:spPr>
          <a:xfrm>
            <a:off x="7286625" y="1916906"/>
            <a:ext cx="4040505" cy="4191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2100"/>
              <a:buFont typeface="Arial"/>
              <a:buNone/>
            </a:pPr>
            <a:r>
              <a:rPr lang="en-US" sz="2100" b="0" i="0" u="none" strike="noStrike" cap="none">
                <a:solidFill>
                  <a:srgbClr val="F8FAFC"/>
                </a:solidFill>
                <a:latin typeface="Poppins Medium"/>
                <a:ea typeface="Poppins Medium"/>
                <a:cs typeface="Poppins Medium"/>
                <a:sym typeface="Poppins Medium"/>
              </a:rPr>
              <a:t>What's Next</a:t>
            </a:r>
            <a:endParaRPr sz="1400" b="0" i="0" u="none" strike="noStrike" cap="none">
              <a:solidFill>
                <a:srgbClr val="000000"/>
              </a:solidFill>
              <a:latin typeface="Arial"/>
              <a:ea typeface="Arial"/>
              <a:cs typeface="Arial"/>
              <a:sym typeface="Arial"/>
            </a:endParaRPr>
          </a:p>
        </p:txBody>
      </p:sp>
      <p:sp>
        <p:nvSpPr>
          <p:cNvPr id="213" name="Google Shape;213;p7"/>
          <p:cNvSpPr/>
          <p:nvPr/>
        </p:nvSpPr>
        <p:spPr>
          <a:xfrm>
            <a:off x="6867525" y="2507456"/>
            <a:ext cx="4267200" cy="190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4" name="Google Shape;214;p7" descr="image.png"/>
          <p:cNvPicPr preferRelativeResize="0"/>
          <p:nvPr/>
        </p:nvPicPr>
        <p:blipFill rotWithShape="1">
          <a:blip r:embed="rId5">
            <a:alphaModFix/>
          </a:blip>
          <a:srcRect/>
          <a:stretch/>
        </p:blipFill>
        <p:spPr>
          <a:xfrm>
            <a:off x="1057275" y="1983581"/>
            <a:ext cx="266700" cy="266700"/>
          </a:xfrm>
          <a:prstGeom prst="rect">
            <a:avLst/>
          </a:prstGeom>
          <a:noFill/>
          <a:ln>
            <a:noFill/>
          </a:ln>
        </p:spPr>
      </p:pic>
      <p:sp>
        <p:nvSpPr>
          <p:cNvPr id="215" name="Google Shape;215;p7"/>
          <p:cNvSpPr txBox="1"/>
          <p:nvPr/>
        </p:nvSpPr>
        <p:spPr>
          <a:xfrm>
            <a:off x="1390650" y="2812256"/>
            <a:ext cx="3933900" cy="640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00">
                <a:solidFill>
                  <a:srgbClr val="94A3B8"/>
                </a:solidFill>
                <a:latin typeface="Inter"/>
                <a:ea typeface="Inter"/>
                <a:cs typeface="Inter"/>
                <a:sym typeface="Inter"/>
              </a:rPr>
              <a:t>Backoffice Fully</a:t>
            </a:r>
            <a:r>
              <a:rPr lang="en-US" sz="1600">
                <a:solidFill>
                  <a:srgbClr val="94A3B8"/>
                </a:solidFill>
              </a:rPr>
              <a:t> </a:t>
            </a:r>
            <a:r>
              <a:rPr lang="en-US" sz="1600">
                <a:solidFill>
                  <a:srgbClr val="94A3B8"/>
                </a:solidFill>
                <a:latin typeface="Inter"/>
                <a:ea typeface="Inter"/>
                <a:cs typeface="Inter"/>
                <a:sym typeface="Inter"/>
              </a:rPr>
              <a:t>functional</a:t>
            </a:r>
            <a:r>
              <a:rPr lang="en-US" sz="1600">
                <a:solidFill>
                  <a:srgbClr val="94A3B8"/>
                </a:solidFill>
              </a:rPr>
              <a:t> (</a:t>
            </a:r>
            <a:r>
              <a:rPr lang="en-US" sz="1600">
                <a:solidFill>
                  <a:srgbClr val="94A3B8"/>
                </a:solidFill>
                <a:latin typeface="Inter"/>
                <a:ea typeface="Inter"/>
                <a:cs typeface="Inter"/>
                <a:sym typeface="Inter"/>
              </a:rPr>
              <a:t>Local</a:t>
            </a:r>
            <a:r>
              <a:rPr lang="en-US" sz="1600">
                <a:solidFill>
                  <a:srgbClr val="94A3B8"/>
                </a:solidFill>
              </a:rPr>
              <a:t> Environment)</a:t>
            </a:r>
            <a:endParaRPr sz="1600" b="0" i="0" u="none" strike="noStrike" cap="none">
              <a:solidFill>
                <a:srgbClr val="94A3B8"/>
              </a:solidFill>
              <a:latin typeface="Arial"/>
              <a:ea typeface="Arial"/>
              <a:cs typeface="Arial"/>
              <a:sym typeface="Arial"/>
            </a:endParaRPr>
          </a:p>
        </p:txBody>
      </p:sp>
      <p:sp>
        <p:nvSpPr>
          <p:cNvPr id="216" name="Google Shape;216;p7"/>
          <p:cNvSpPr txBox="1"/>
          <p:nvPr/>
        </p:nvSpPr>
        <p:spPr>
          <a:xfrm>
            <a:off x="1390650" y="3634978"/>
            <a:ext cx="3933900" cy="640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00">
                <a:solidFill>
                  <a:srgbClr val="94A3B8"/>
                </a:solidFill>
                <a:latin typeface="Inter"/>
                <a:ea typeface="Inter"/>
                <a:cs typeface="Inter"/>
                <a:sym typeface="Inter"/>
              </a:rPr>
              <a:t>Patient Web App: Interactive prototype (Figma)</a:t>
            </a:r>
            <a:endParaRPr sz="1600" i="0" u="none" strike="noStrike" cap="none">
              <a:solidFill>
                <a:srgbClr val="94A3B8"/>
              </a:solidFill>
              <a:latin typeface="Inter"/>
              <a:ea typeface="Inter"/>
              <a:cs typeface="Inter"/>
              <a:sym typeface="Inter"/>
            </a:endParaRPr>
          </a:p>
        </p:txBody>
      </p:sp>
      <p:sp>
        <p:nvSpPr>
          <p:cNvPr id="217" name="Google Shape;217;p7"/>
          <p:cNvSpPr txBox="1"/>
          <p:nvPr/>
        </p:nvSpPr>
        <p:spPr>
          <a:xfrm>
            <a:off x="1390650" y="4457700"/>
            <a:ext cx="3933900" cy="640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00">
                <a:solidFill>
                  <a:srgbClr val="94A3B8"/>
                </a:solidFill>
                <a:latin typeface="Inter"/>
                <a:ea typeface="Inter"/>
                <a:cs typeface="Inter"/>
                <a:sym typeface="Inter"/>
              </a:rPr>
              <a:t>Messaging Service: Live integration via Telegram API</a:t>
            </a:r>
            <a:endParaRPr sz="1600" i="0" strike="noStrike" cap="none">
              <a:solidFill>
                <a:srgbClr val="94A3B8"/>
              </a:solidFill>
              <a:latin typeface="Inter"/>
              <a:ea typeface="Inter"/>
              <a:cs typeface="Inter"/>
              <a:sym typeface="Inter"/>
            </a:endParaRPr>
          </a:p>
        </p:txBody>
      </p:sp>
      <p:pic>
        <p:nvPicPr>
          <p:cNvPr id="218" name="Google Shape;218;p7" descr="image.png"/>
          <p:cNvPicPr preferRelativeResize="0"/>
          <p:nvPr/>
        </p:nvPicPr>
        <p:blipFill rotWithShape="1">
          <a:blip r:embed="rId6">
            <a:alphaModFix/>
          </a:blip>
          <a:srcRect/>
          <a:stretch/>
        </p:blipFill>
        <p:spPr>
          <a:xfrm>
            <a:off x="6867525" y="1983581"/>
            <a:ext cx="266700" cy="266700"/>
          </a:xfrm>
          <a:prstGeom prst="rect">
            <a:avLst/>
          </a:prstGeom>
          <a:noFill/>
          <a:ln>
            <a:noFill/>
          </a:ln>
        </p:spPr>
      </p:pic>
      <p:sp>
        <p:nvSpPr>
          <p:cNvPr id="219" name="Google Shape;219;p7"/>
          <p:cNvSpPr txBox="1"/>
          <p:nvPr/>
        </p:nvSpPr>
        <p:spPr>
          <a:xfrm>
            <a:off x="7200900" y="2812256"/>
            <a:ext cx="3933900" cy="103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000000"/>
              </a:buClr>
              <a:buSzPts val="1650"/>
              <a:buFont typeface="Arial"/>
              <a:buNone/>
            </a:pPr>
            <a:r>
              <a:rPr lang="en-US" sz="1600">
                <a:solidFill>
                  <a:srgbClr val="94A3B8"/>
                </a:solidFill>
                <a:latin typeface="Inter"/>
                <a:ea typeface="Inter"/>
                <a:cs typeface="Inter"/>
                <a:sym typeface="Inter"/>
              </a:rPr>
              <a:t>Frontend Implementation: Migrating the patient web app from Figma to production</a:t>
            </a:r>
            <a:endParaRPr sz="1600" i="0" u="none" strike="noStrike" cap="none">
              <a:solidFill>
                <a:srgbClr val="94A3B8"/>
              </a:solidFill>
              <a:latin typeface="Inter"/>
              <a:ea typeface="Inter"/>
              <a:cs typeface="Inter"/>
              <a:sym typeface="Inter"/>
            </a:endParaRPr>
          </a:p>
        </p:txBody>
      </p:sp>
      <p:sp>
        <p:nvSpPr>
          <p:cNvPr id="220" name="Google Shape;220;p7"/>
          <p:cNvSpPr txBox="1"/>
          <p:nvPr/>
        </p:nvSpPr>
        <p:spPr>
          <a:xfrm>
            <a:off x="7200900" y="4122547"/>
            <a:ext cx="3933900" cy="1379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600">
                <a:solidFill>
                  <a:srgbClr val="94A3B8"/>
                </a:solidFill>
                <a:latin typeface="Inter"/>
                <a:ea typeface="Inter"/>
                <a:cs typeface="Inter"/>
                <a:sym typeface="Inter"/>
              </a:rPr>
              <a:t>SMS Gateway Integration: Migrating from Telegram to SMS provider.</a:t>
            </a:r>
            <a:endParaRPr sz="1600">
              <a:solidFill>
                <a:srgbClr val="94A3B8"/>
              </a:solidFill>
              <a:latin typeface="Inter"/>
              <a:ea typeface="Inter"/>
              <a:cs typeface="Inter"/>
              <a:sym typeface="Inter"/>
            </a:endParaRPr>
          </a:p>
          <a:p>
            <a:pPr marL="0" lvl="0" indent="0" algn="l" rtl="0">
              <a:lnSpc>
                <a:spcPct val="115000"/>
              </a:lnSpc>
              <a:spcBef>
                <a:spcPts val="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lvl="0" indent="0" algn="l" rtl="0">
              <a:lnSpc>
                <a:spcPct val="115000"/>
              </a:lnSpc>
              <a:spcBef>
                <a:spcPts val="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marR="0" lvl="0" indent="0" algn="l" rtl="0">
              <a:lnSpc>
                <a:spcPct val="160000"/>
              </a:lnSpc>
              <a:spcBef>
                <a:spcPts val="0"/>
              </a:spcBef>
              <a:spcAft>
                <a:spcPts val="0"/>
              </a:spcAft>
              <a:buClr>
                <a:srgbClr val="000000"/>
              </a:buClr>
              <a:buSzPts val="1650"/>
              <a:buFont typeface="Arial"/>
              <a:buNone/>
            </a:pPr>
            <a:endParaRPr sz="1600">
              <a:solidFill>
                <a:srgbClr val="94A3B8"/>
              </a:solidFill>
              <a:latin typeface="Inter"/>
              <a:ea typeface="Inter"/>
              <a:cs typeface="Inter"/>
              <a:sym typeface="Inter"/>
            </a:endParaRPr>
          </a:p>
        </p:txBody>
      </p:sp>
      <p:sp>
        <p:nvSpPr>
          <p:cNvPr id="221" name="Google Shape;221;p7"/>
          <p:cNvSpPr txBox="1"/>
          <p:nvPr/>
        </p:nvSpPr>
        <p:spPr>
          <a:xfrm>
            <a:off x="7200863" y="4993496"/>
            <a:ext cx="3933900" cy="20994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US" sz="1600">
                <a:solidFill>
                  <a:srgbClr val="94A3B8"/>
                </a:solidFill>
                <a:latin typeface="Inter"/>
                <a:ea typeface="Inter"/>
                <a:cs typeface="Inter"/>
                <a:sym typeface="Inter"/>
              </a:rPr>
              <a:t>Clinical Pilot: Validation study with actual hospital staff and patients.</a:t>
            </a:r>
            <a:endParaRPr sz="1600">
              <a:solidFill>
                <a:srgbClr val="94A3B8"/>
              </a:solidFill>
              <a:latin typeface="Inter"/>
              <a:ea typeface="Inter"/>
              <a:cs typeface="Inter"/>
              <a:sym typeface="Inter"/>
            </a:endParaRPr>
          </a:p>
          <a:p>
            <a:pPr marL="0" lvl="0" indent="0" algn="l" rtl="0">
              <a:lnSpc>
                <a:spcPct val="115000"/>
              </a:lnSpc>
              <a:spcBef>
                <a:spcPts val="120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lvl="0" indent="0" algn="l" rtl="0">
              <a:lnSpc>
                <a:spcPct val="115000"/>
              </a:lnSpc>
              <a:spcBef>
                <a:spcPts val="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lvl="0" indent="0" algn="l" rtl="0">
              <a:lnSpc>
                <a:spcPct val="115000"/>
              </a:lnSpc>
              <a:spcBef>
                <a:spcPts val="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lvl="0" indent="0" algn="l" rtl="0">
              <a:lnSpc>
                <a:spcPct val="115000"/>
              </a:lnSpc>
              <a:spcBef>
                <a:spcPts val="0"/>
              </a:spcBef>
              <a:spcAft>
                <a:spcPts val="0"/>
              </a:spcAft>
              <a:buClr>
                <a:schemeClr val="dk1"/>
              </a:buClr>
              <a:buSzPts val="1100"/>
              <a:buFont typeface="Arial"/>
              <a:buNone/>
            </a:pPr>
            <a:endParaRPr sz="1600">
              <a:solidFill>
                <a:srgbClr val="94A3B8"/>
              </a:solidFill>
              <a:latin typeface="Inter"/>
              <a:ea typeface="Inter"/>
              <a:cs typeface="Inter"/>
              <a:sym typeface="Inter"/>
            </a:endParaRPr>
          </a:p>
          <a:p>
            <a:pPr marL="0" marR="0" lvl="0" indent="0" algn="l" rtl="0">
              <a:lnSpc>
                <a:spcPct val="160000"/>
              </a:lnSpc>
              <a:spcBef>
                <a:spcPts val="0"/>
              </a:spcBef>
              <a:spcAft>
                <a:spcPts val="0"/>
              </a:spcAft>
              <a:buClr>
                <a:srgbClr val="000000"/>
              </a:buClr>
              <a:buSzPts val="1650"/>
              <a:buFont typeface="Arial"/>
              <a:buNone/>
            </a:pPr>
            <a:endParaRPr sz="1600">
              <a:solidFill>
                <a:srgbClr val="94A3B8"/>
              </a:solidFill>
              <a:latin typeface="Inter"/>
              <a:ea typeface="Inter"/>
              <a:cs typeface="Inter"/>
              <a:sym typeface="Inter"/>
            </a:endParaRPr>
          </a:p>
        </p:txBody>
      </p:sp>
      <p:pic>
        <p:nvPicPr>
          <p:cNvPr id="222" name="Google Shape;222;p7" descr="image.png"/>
          <p:cNvPicPr preferRelativeResize="0"/>
          <p:nvPr/>
        </p:nvPicPr>
        <p:blipFill rotWithShape="1">
          <a:blip r:embed="rId7">
            <a:alphaModFix/>
          </a:blip>
          <a:srcRect/>
          <a:stretch/>
        </p:blipFill>
        <p:spPr>
          <a:xfrm>
            <a:off x="1057275" y="2864643"/>
            <a:ext cx="180975" cy="219075"/>
          </a:xfrm>
          <a:prstGeom prst="rect">
            <a:avLst/>
          </a:prstGeom>
          <a:noFill/>
          <a:ln>
            <a:noFill/>
          </a:ln>
        </p:spPr>
      </p:pic>
      <p:pic>
        <p:nvPicPr>
          <p:cNvPr id="223" name="Google Shape;223;p7" descr="image.png"/>
          <p:cNvPicPr preferRelativeResize="0"/>
          <p:nvPr/>
        </p:nvPicPr>
        <p:blipFill rotWithShape="1">
          <a:blip r:embed="rId7">
            <a:alphaModFix/>
          </a:blip>
          <a:srcRect/>
          <a:stretch/>
        </p:blipFill>
        <p:spPr>
          <a:xfrm>
            <a:off x="1057275" y="3687365"/>
            <a:ext cx="180975" cy="219075"/>
          </a:xfrm>
          <a:prstGeom prst="rect">
            <a:avLst/>
          </a:prstGeom>
          <a:noFill/>
          <a:ln>
            <a:noFill/>
          </a:ln>
        </p:spPr>
      </p:pic>
      <p:pic>
        <p:nvPicPr>
          <p:cNvPr id="224" name="Google Shape;224;p7" descr="image.png"/>
          <p:cNvPicPr preferRelativeResize="0"/>
          <p:nvPr/>
        </p:nvPicPr>
        <p:blipFill rotWithShape="1">
          <a:blip r:embed="rId7">
            <a:alphaModFix/>
          </a:blip>
          <a:srcRect/>
          <a:stretch/>
        </p:blipFill>
        <p:spPr>
          <a:xfrm>
            <a:off x="1057275" y="4510087"/>
            <a:ext cx="180975" cy="219075"/>
          </a:xfrm>
          <a:prstGeom prst="rect">
            <a:avLst/>
          </a:prstGeom>
          <a:noFill/>
          <a:ln>
            <a:noFill/>
          </a:ln>
        </p:spPr>
      </p:pic>
      <p:pic>
        <p:nvPicPr>
          <p:cNvPr id="225" name="Google Shape;225;p7" descr="image.png"/>
          <p:cNvPicPr preferRelativeResize="0"/>
          <p:nvPr/>
        </p:nvPicPr>
        <p:blipFill rotWithShape="1">
          <a:blip r:embed="rId7">
            <a:alphaModFix/>
          </a:blip>
          <a:srcRect/>
          <a:stretch/>
        </p:blipFill>
        <p:spPr>
          <a:xfrm>
            <a:off x="6867525" y="2864643"/>
            <a:ext cx="180975" cy="219075"/>
          </a:xfrm>
          <a:prstGeom prst="rect">
            <a:avLst/>
          </a:prstGeom>
          <a:noFill/>
          <a:ln>
            <a:noFill/>
          </a:ln>
        </p:spPr>
      </p:pic>
      <p:pic>
        <p:nvPicPr>
          <p:cNvPr id="226" name="Google Shape;226;p7" descr="image.png"/>
          <p:cNvPicPr preferRelativeResize="0"/>
          <p:nvPr/>
        </p:nvPicPr>
        <p:blipFill rotWithShape="1">
          <a:blip r:embed="rId7">
            <a:alphaModFix/>
          </a:blip>
          <a:srcRect/>
          <a:stretch/>
        </p:blipFill>
        <p:spPr>
          <a:xfrm>
            <a:off x="6867525" y="4174926"/>
            <a:ext cx="180975" cy="219075"/>
          </a:xfrm>
          <a:prstGeom prst="rect">
            <a:avLst/>
          </a:prstGeom>
          <a:noFill/>
          <a:ln>
            <a:noFill/>
          </a:ln>
        </p:spPr>
      </p:pic>
      <p:pic>
        <p:nvPicPr>
          <p:cNvPr id="227" name="Google Shape;227;p7" descr="image.png"/>
          <p:cNvPicPr preferRelativeResize="0"/>
          <p:nvPr/>
        </p:nvPicPr>
        <p:blipFill rotWithShape="1">
          <a:blip r:embed="rId7">
            <a:alphaModFix/>
          </a:blip>
          <a:srcRect/>
          <a:stretch/>
        </p:blipFill>
        <p:spPr>
          <a:xfrm>
            <a:off x="6867488" y="5045884"/>
            <a:ext cx="180975" cy="219075"/>
          </a:xfrm>
          <a:prstGeom prst="rect">
            <a:avLst/>
          </a:prstGeom>
          <a:noFill/>
          <a:ln>
            <a:noFill/>
          </a:ln>
        </p:spPr>
      </p:pic>
      <p:sp>
        <p:nvSpPr>
          <p:cNvPr id="228" name="Google Shape;228;p7"/>
          <p:cNvSpPr txBox="1"/>
          <p:nvPr/>
        </p:nvSpPr>
        <p:spPr>
          <a:xfrm>
            <a:off x="571500" y="269081"/>
            <a:ext cx="11601450" cy="68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F8FAFC"/>
                </a:solidFill>
                <a:latin typeface="Poppins SemiBold"/>
                <a:ea typeface="Poppins SemiBold"/>
                <a:cs typeface="Poppins SemiBold"/>
                <a:sym typeface="Poppins SemiBold"/>
              </a:rPr>
              <a:t>Status &amp; Roadmap</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pic>
        <p:nvPicPr>
          <p:cNvPr id="233" name="Google Shape;233;g3e730759fec_15_35" descr="A high-resolution, professional wide-angle shot of a clean, modern hospital waiting area with comfortable wooden chairs and soft, cinematic lighting. The background should be slightly out of focus to allow text to stand out, with a cool blue and teal color palette."/>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34" name="Google Shape;234;g3e730759fec_15_35"/>
          <p:cNvSpPr/>
          <p:nvPr/>
        </p:nvSpPr>
        <p:spPr>
          <a:xfrm>
            <a:off x="0" y="0"/>
            <a:ext cx="12192000" cy="6858000"/>
          </a:xfrm>
          <a:prstGeom prst="rect">
            <a:avLst/>
          </a:prstGeom>
          <a:solidFill>
            <a:srgbClr val="0F172A">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35" name="Google Shape;235;g3e730759fec_15_35"/>
          <p:cNvGrpSpPr/>
          <p:nvPr/>
        </p:nvGrpSpPr>
        <p:grpSpPr>
          <a:xfrm>
            <a:off x="571500" y="1714500"/>
            <a:ext cx="7620000" cy="1428900"/>
            <a:chOff x="571500" y="1714500"/>
            <a:chExt cx="7620000" cy="1428900"/>
          </a:xfrm>
        </p:grpSpPr>
        <p:sp>
          <p:nvSpPr>
            <p:cNvPr id="236" name="Google Shape;236;g3e730759fec_15_35"/>
            <p:cNvSpPr/>
            <p:nvPr/>
          </p:nvSpPr>
          <p:spPr>
            <a:xfrm>
              <a:off x="571500" y="1714500"/>
              <a:ext cx="7620000" cy="1428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g3e730759fec_15_35"/>
            <p:cNvSpPr txBox="1"/>
            <p:nvPr/>
          </p:nvSpPr>
          <p:spPr>
            <a:xfrm>
              <a:off x="571500" y="1714500"/>
              <a:ext cx="7620000" cy="142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200" b="1">
                  <a:solidFill>
                    <a:srgbClr val="FFFFFF"/>
                  </a:solidFill>
                  <a:latin typeface="Poppins"/>
                  <a:ea typeface="Poppins"/>
                  <a:cs typeface="Poppins"/>
                  <a:sym typeface="Poppins"/>
                </a:rPr>
                <a:t>Thank You </a:t>
              </a:r>
              <a:br>
                <a:rPr lang="en-US" sz="8200" b="1">
                  <a:solidFill>
                    <a:srgbClr val="FFFFFF"/>
                  </a:solidFill>
                  <a:latin typeface="Poppins"/>
                  <a:ea typeface="Poppins"/>
                  <a:cs typeface="Poppins"/>
                  <a:sym typeface="Poppins"/>
                </a:rPr>
              </a:br>
              <a:r>
                <a:rPr lang="en-US" sz="8200" b="1">
                  <a:solidFill>
                    <a:srgbClr val="FFFFFF"/>
                  </a:solidFill>
                  <a:latin typeface="Poppins"/>
                  <a:ea typeface="Poppins"/>
                  <a:cs typeface="Poppins"/>
                  <a:sym typeface="Poppins"/>
                </a:rPr>
                <a:t>For Listening</a:t>
              </a:r>
              <a:endParaRPr sz="8200" b="1">
                <a:solidFill>
                  <a:srgbClr val="FFFFFF"/>
                </a:solidFill>
                <a:latin typeface="Poppins"/>
                <a:ea typeface="Poppins"/>
                <a:cs typeface="Poppins"/>
                <a:sym typeface="Poppins"/>
              </a:endParaRPr>
            </a:p>
          </p:txBody>
        </p:sp>
      </p:grpSp>
      <p:sp>
        <p:nvSpPr>
          <p:cNvPr id="238" name="Google Shape;238;g3e730759fec_15_35"/>
          <p:cNvSpPr/>
          <p:nvPr/>
        </p:nvSpPr>
        <p:spPr>
          <a:xfrm>
            <a:off x="571500" y="3048000"/>
            <a:ext cx="112428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9" name="Google Shape;239;g3e730759fec_15_35"/>
          <p:cNvSpPr/>
          <p:nvPr/>
        </p:nvSpPr>
        <p:spPr>
          <a:xfrm>
            <a:off x="571500" y="4286250"/>
            <a:ext cx="7620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40" name="Google Shape;240;g3e730759fec_15_35"/>
          <p:cNvGrpSpPr/>
          <p:nvPr/>
        </p:nvGrpSpPr>
        <p:grpSpPr>
          <a:xfrm>
            <a:off x="571500" y="5905500"/>
            <a:ext cx="11049000" cy="571500"/>
            <a:chOff x="571500" y="5905500"/>
            <a:chExt cx="11049000" cy="571500"/>
          </a:xfrm>
        </p:grpSpPr>
        <p:sp>
          <p:nvSpPr>
            <p:cNvPr id="241" name="Google Shape;241;g3e730759fec_15_35"/>
            <p:cNvSpPr/>
            <p:nvPr/>
          </p:nvSpPr>
          <p:spPr>
            <a:xfrm>
              <a:off x="571500" y="5905500"/>
              <a:ext cx="11049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2" name="Google Shape;242;g3e730759fec_15_35"/>
            <p:cNvSpPr txBox="1"/>
            <p:nvPr/>
          </p:nvSpPr>
          <p:spPr>
            <a:xfrm>
              <a:off x="571500" y="5905500"/>
              <a:ext cx="11049000" cy="571500"/>
            </a:xfrm>
            <a:prstGeom prst="rect">
              <a:avLst/>
            </a:prstGeom>
            <a:noFill/>
            <a:ln>
              <a:noFill/>
            </a:ln>
          </p:spPr>
          <p:txBody>
            <a:bodyPr spcFirstLastPara="1" wrap="square" lIns="0" tIns="190500" rIns="0" bIns="0" anchor="b" anchorCtr="0">
              <a:noAutofit/>
            </a:bodyPr>
            <a:lstStyle/>
            <a:p>
              <a:pPr marL="0" lvl="0" indent="0" algn="l" rtl="0">
                <a:spcBef>
                  <a:spcPts val="0"/>
                </a:spcBef>
                <a:spcAft>
                  <a:spcPts val="0"/>
                </a:spcAft>
                <a:buNone/>
              </a:pPr>
              <a:r>
                <a:rPr lang="en-US" sz="1400" b="0">
                  <a:solidFill>
                    <a:srgbClr val="94A3B8"/>
                  </a:solidFill>
                  <a:latin typeface="Inter Medium"/>
                  <a:ea typeface="Inter Medium"/>
                  <a:cs typeface="Inter Medium"/>
                  <a:sym typeface="Inter Medium"/>
                </a:rPr>
                <a:t>Roy Davidovich | Tal Ayoun</a:t>
              </a:r>
              <a:br>
                <a:rPr lang="en-US">
                  <a:solidFill>
                    <a:srgbClr val="64748B"/>
                  </a:solidFill>
                  <a:latin typeface="Inter"/>
                  <a:ea typeface="Inter"/>
                  <a:cs typeface="Inter"/>
                  <a:sym typeface="Inter"/>
                </a:rPr>
              </a:br>
              <a:r>
                <a:rPr lang="en-US">
                  <a:solidFill>
                    <a:srgbClr val="64748B"/>
                  </a:solidFill>
                  <a:latin typeface="Inter"/>
                  <a:ea typeface="Inter"/>
                  <a:cs typeface="Inter"/>
                  <a:sym typeface="Inter"/>
                </a:rPr>
                <a:t>Hub Workshop - 2026</a:t>
              </a:r>
              <a:endParaRPr>
                <a:solidFill>
                  <a:srgbClr val="64748B"/>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F31754-209B-4A18-907D-8503C642CC3C}">
  <we:reference id="wa200010725" version="1.0.0.1" store="en-US" storeType="OMEX"/>
  <we:alternateReferences>
    <we:reference id="WA200010725" version="1.0.0.1" store="" storeType="OMEX"/>
  </we:alternateReferences>
  <we:properties>
    <we:property name="claude.fileId" value="&quot;0af81cef-4c1a-4185-969b-be7fbba372d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53</TotalTime>
  <Words>1683</Words>
  <Application>Microsoft Macintosh PowerPoint</Application>
  <PresentationFormat>Widescreen</PresentationFormat>
  <Paragraphs>89</Paragraphs>
  <Slides>12</Slides>
  <Notes>12</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Calibri</vt:lpstr>
      <vt:lpstr>Poppins SemiBold</vt:lpstr>
      <vt:lpstr>Inter</vt:lpstr>
      <vt:lpstr>Poppins</vt:lpstr>
      <vt:lpstr>Inter Medium</vt:lpstr>
      <vt:lpstr>Arial</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Roy Davidovich</cp:lastModifiedBy>
  <cp:revision>5</cp:revision>
  <dcterms:modified xsi:type="dcterms:W3CDTF">2026-06-05T14:52:41Z</dcterms:modified>
</cp:coreProperties>
</file>