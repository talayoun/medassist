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8"/>
  </p:notesMasterIdLst>
  <p:sldIdLst>
    <p:sldId id="256" r:id="rId2"/>
    <p:sldId id="257" r:id="rId3"/>
    <p:sldId id="258" r:id="rId4"/>
    <p:sldId id="287" r:id="rId5"/>
    <p:sldId id="289" r:id="rId6"/>
    <p:sldId id="261" r:id="rId7"/>
    <p:sldId id="29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embeddedFontLst>
    <p:embeddedFont>
      <p:font typeface="Heebo" pitchFamily="2" charset="-79"/>
      <p:regular r:id="rId19"/>
      <p:bold r:id="rId20"/>
    </p:embeddedFont>
    <p:embeddedFont>
      <p:font typeface="Heebo Medium" pitchFamily="2" charset="-79"/>
      <p:regular r:id="rId21"/>
      <p:bold r:id="rId22"/>
    </p:embeddedFont>
    <p:embeddedFont>
      <p:font typeface="Inter" panose="02000503000000020004" pitchFamily="2" charset="0"/>
      <p:regular r:id="rId23"/>
      <p:bold r:id="rId24"/>
      <p:italic r:id="rId25"/>
      <p:boldItalic r:id="rId26"/>
    </p:embeddedFont>
    <p:embeddedFont>
      <p:font typeface="Inter ExtraBold" panose="02000503000000020004" pitchFamily="2" charset="0"/>
      <p:bold r:id="rId27"/>
      <p:italic r:id="rId28"/>
      <p:boldItalic r:id="rId29"/>
    </p:embeddedFont>
    <p:embeddedFont>
      <p:font typeface="Inter Light" panose="02000503000000020004" pitchFamily="2" charset="0"/>
      <p:regular r:id="rId30"/>
      <p:bold r:id="rId31"/>
      <p:italic r:id="rId32"/>
      <p:boldItalic r:id="rId33"/>
    </p:embeddedFont>
    <p:embeddedFont>
      <p:font typeface="Inter SemiBold" panose="02000503000000020004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32" d="100"/>
          <a:sy n="132" d="100"/>
        </p:scale>
        <p:origin x="17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viewProps" Target="viewProp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e5c00b03b9_15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14" name="Google Shape;14;g3e5c00b03b9_15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g3e5c00b03b9_15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5c00b03b9_15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52" name="Google Shape;52;g3e5c00b03b9_15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53" name="Google Shape;53;g3e5c00b03b9_15_1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a7f6c968f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  <p:sp>
        <p:nvSpPr>
          <p:cNvPr id="91" name="Google Shape;91;g3ea7f6c968f_0_2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2" name="Google Shape;92;g3ea7f6c968f_0_2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a7f6c968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  <p:sp>
        <p:nvSpPr>
          <p:cNvPr id="100" name="Google Shape;100;g3ea7f6c968f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01" name="Google Shape;101;g3ea7f6c968f_0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c00b03b9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122" name="Google Shape;122;g3e5c00b03b9_0_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23" name="Google Shape;123;g3e5c00b03b9_0_1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bde91866e_25_24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ebde91866e_25_248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ebde91866e_25_248:notes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138" name="Google Shape;138;g3ebde91866e_25_2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39" name="Google Shape;139;g3ebde91866e_25_248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ebde91866e_25_2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a7f6c968f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163" name="Google Shape;163;g3ea7f6c968f_0_4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3ea7f6c968f_0_4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c6acc366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181" name="Google Shape;181;g3ec6acc3666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82" name="Google Shape;182;g3ec6acc3666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bde91866e_25_44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ebde91866e_25_445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ebde91866e_25_445:notes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202" name="Google Shape;202;g3ebde91866e_25_4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ebde91866e_25_445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ebde91866e_25_4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5c8954581_1_35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3e5c8954581_1_357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e5c8954581_1_357:notes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232" name="Google Shape;232;g3e5c8954581_1_3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33" name="Google Shape;233;g3e5c8954581_1_357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3e5c8954581_1_3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afacfcd6a_0_28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3eafacfcd6a_0_285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3eafacfcd6a_0_285:notes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264" name="Google Shape;264;g3eafacfcd6a_0_2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265" name="Google Shape;265;g3eafacfcd6a_0_285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3eafacfcd6a_0_2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5c8954581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320" name="Google Shape;320;g3e5c8954581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21" name="Google Shape;321;g3e5c8954581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c520ddb3b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  <p:sp>
        <p:nvSpPr>
          <p:cNvPr id="338" name="Google Shape;338;g3ec520ddb3b_0_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3ec520ddb3b_0_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ebf9cf82eb_1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362" name="Google Shape;362;g3ebf9cf82eb_11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g3ebf9cf82eb_11_1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5c8954581_1_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403" name="Google Shape;403;g3e5c8954581_1_5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3e5c8954581_1_5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5c8954581_1_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426" name="Google Shape;426;g3e5c8954581_1_6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g3e5c8954581_1_6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5da5588c7_68_0)">
  <p:cSld name="Generated (g3e5da5588c7_68_0)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2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sv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2.png"/><Relationship Id="rId7" Type="http://schemas.openxmlformats.org/officeDocument/2006/relationships/hyperlink" Target="http://drive.google.com/file/d/1cyq8MAYYAm-6N4-Gr6X8vj2Zp5I-GBfq/view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5" Type="http://schemas.openxmlformats.org/officeDocument/2006/relationships/hyperlink" Target="http://drive.google.com/file/d/1X7kgDNlJPEzu4ewFLXHINOVaRtpz-PBh/view" TargetMode="External"/><Relationship Id="rId10" Type="http://schemas.openxmlformats.org/officeDocument/2006/relationships/image" Target="../media/image18.jpg"/><Relationship Id="rId4" Type="http://schemas.openxmlformats.org/officeDocument/2006/relationships/image" Target="../media/image1.png"/><Relationship Id="rId9" Type="http://schemas.openxmlformats.org/officeDocument/2006/relationships/hyperlink" Target="http://drive.google.com/file/d/1SlkozNp3Y-FzNg-K-BY3iZZpx3L8wIgm/view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1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6507480" y="822960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6854952" y="822960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7202424" y="822960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7549896" y="822960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7897368" y="822960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8244840" y="822960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6507480" y="1170432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6854952" y="1170432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7202424" y="1170432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7549896" y="1170432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7897368" y="1170432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8244840" y="1170432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6507480" y="1517904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6854952" y="1517904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7202424" y="1517904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7549896" y="1517904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7897368" y="1517904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8244840" y="1517904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507480" y="1865376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854952" y="1865376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202424" y="1865376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7549896" y="1865376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7897368" y="1865376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244840" y="1865376"/>
            <a:ext cx="54900" cy="54900"/>
          </a:xfrm>
          <a:prstGeom prst="ellipse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57906" y="4007400"/>
            <a:ext cx="8001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Hub Workshop </a:t>
            </a: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523750" y="1115600"/>
            <a:ext cx="8001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70" b="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MedAssist</a:t>
            </a:r>
            <a:endParaRPr sz="7770" b="0">
              <a:solidFill>
                <a:srgbClr val="0D948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43" name="Google Shape;43;p4"/>
          <p:cNvGrpSpPr/>
          <p:nvPr/>
        </p:nvGrpSpPr>
        <p:grpSpPr>
          <a:xfrm>
            <a:off x="523750" y="2353850"/>
            <a:ext cx="8001000" cy="857250"/>
            <a:chOff x="571500" y="2571750"/>
            <a:chExt cx="8001000" cy="857250"/>
          </a:xfrm>
        </p:grpSpPr>
        <p:sp>
          <p:nvSpPr>
            <p:cNvPr id="44" name="Google Shape;44;p4"/>
            <p:cNvSpPr txBox="1"/>
            <p:nvPr/>
          </p:nvSpPr>
          <p:spPr>
            <a:xfrm>
              <a:off x="571500" y="257175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>
                  <a:solidFill>
                    <a:srgbClr val="F8FAFC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Patient Journey Companion</a:t>
              </a:r>
              <a:endParaRPr sz="2800" b="0">
                <a:solidFill>
                  <a:srgbClr val="F8FAFC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45" name="Google Shape;45;p4"/>
            <p:cNvSpPr txBox="1"/>
            <p:nvPr/>
          </p:nvSpPr>
          <p:spPr>
            <a:xfrm>
              <a:off x="571500" y="3081600"/>
              <a:ext cx="80010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From Y</a:t>
              </a:r>
              <a:r>
                <a:rPr lang="en-US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our </a:t>
              </a:r>
              <a:r>
                <a:rPr lang="en-US" sz="16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Home to the Treatment Room</a:t>
              </a:r>
              <a:endParaRPr sz="16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6" name="Google Shape;46;p4"/>
          <p:cNvSpPr/>
          <p:nvPr/>
        </p:nvSpPr>
        <p:spPr>
          <a:xfrm>
            <a:off x="523750" y="3401600"/>
            <a:ext cx="2857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21200" y="1306100"/>
            <a:ext cx="38100" cy="1905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57200" y="3639312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Roy Davidovich  |  Tal Ayoun  |  Kim N</a:t>
            </a: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ais</a:t>
            </a: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ht</a:t>
            </a: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  |  Yasmin Di</a:t>
            </a: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nina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" name="Google Shape;49;p4" title="logo_square_vector_no_slogan-removebg-preview.png"/>
          <p:cNvPicPr preferRelativeResize="0"/>
          <p:nvPr/>
        </p:nvPicPr>
        <p:blipFill rotWithShape="1">
          <a:blip r:embed="rId3">
            <a:alphaModFix/>
          </a:blip>
          <a:srcRect t="23004" b="24320"/>
          <a:stretch/>
        </p:blipFill>
        <p:spPr>
          <a:xfrm>
            <a:off x="7730250" y="36425"/>
            <a:ext cx="1291775" cy="6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1428750"/>
            <a:ext cx="20001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1750" y="1428750"/>
            <a:ext cx="20001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86300" y="1428750"/>
            <a:ext cx="20001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00850" y="1428750"/>
            <a:ext cx="20001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1123950" y="1666875"/>
            <a:ext cx="666900" cy="6669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1123950" y="1666875"/>
            <a:ext cx="6669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RD</a:t>
            </a:r>
            <a:endParaRPr sz="16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52450" y="2428875"/>
            <a:ext cx="18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Roy Davidovich</a:t>
            </a:r>
            <a:endParaRPr sz="14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52450" y="2809875"/>
            <a:ext cx="18096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Project Lead</a:t>
            </a:r>
            <a:endParaRPr sz="1100" b="1">
              <a:solidFill>
                <a:srgbClr val="0D948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52450" y="3095625"/>
            <a:ext cx="18096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Computer Science</a:t>
            </a:r>
            <a:endParaRPr sz="1000" b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238500" y="1666875"/>
            <a:ext cx="666900" cy="6669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3238500" y="1666875"/>
            <a:ext cx="6669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</a:t>
            </a:r>
            <a:endParaRPr sz="16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2667000" y="2428875"/>
            <a:ext cx="18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Tal Ayoun</a:t>
            </a:r>
            <a:endParaRPr sz="14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667000" y="2809875"/>
            <a:ext cx="18096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891B2"/>
                </a:solidFill>
                <a:latin typeface="Inter"/>
                <a:ea typeface="Inter"/>
                <a:cs typeface="Inter"/>
                <a:sym typeface="Inter"/>
              </a:rPr>
              <a:t>Full-Stack Development</a:t>
            </a:r>
            <a:endParaRPr sz="1100" b="1">
              <a:solidFill>
                <a:srgbClr val="0891B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2667000" y="3095625"/>
            <a:ext cx="18096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Computer Science</a:t>
            </a:r>
            <a:endParaRPr sz="1000" b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353050" y="1666875"/>
            <a:ext cx="666900" cy="666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5353050" y="1666875"/>
            <a:ext cx="6669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KN</a:t>
            </a:r>
            <a:endParaRPr sz="16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781550" y="2428875"/>
            <a:ext cx="18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Kim N</a:t>
            </a:r>
            <a:r>
              <a:rPr lang="en-US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</a:t>
            </a:r>
            <a:r>
              <a:rPr lang="en-US" sz="14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sht</a:t>
            </a:r>
            <a:r>
              <a:rPr lang="en-US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lang="en-US" sz="14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endParaRPr sz="14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781550" y="2809875"/>
            <a:ext cx="18096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Behavioral Research &amp; UX</a:t>
            </a:r>
            <a:endParaRPr sz="1100" b="1">
              <a:solidFill>
                <a:srgbClr val="7C3AE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781550" y="3095625"/>
            <a:ext cx="18096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Psychology</a:t>
            </a:r>
            <a:endParaRPr sz="1000" b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7467600" y="1666875"/>
            <a:ext cx="666900" cy="6669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7467600" y="1666875"/>
            <a:ext cx="6669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YD</a:t>
            </a:r>
            <a:endParaRPr sz="16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896100" y="2428875"/>
            <a:ext cx="18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Yasmin Di</a:t>
            </a:r>
            <a:r>
              <a:rPr lang="en-US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lang="en-US" sz="14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nina</a:t>
            </a:r>
            <a:endParaRPr sz="14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896100" y="2809875"/>
            <a:ext cx="18096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8" b="1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Content Strategy &amp; Support</a:t>
            </a:r>
            <a:endParaRPr sz="1018" b="1">
              <a:solidFill>
                <a:srgbClr val="F9731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896100" y="3095625"/>
            <a:ext cx="18096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Psychology</a:t>
            </a:r>
            <a:endParaRPr sz="1000" b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57200" y="4213777"/>
            <a:ext cx="41148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13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b="1" i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686300" y="4213777"/>
            <a:ext cx="41238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PSYCHOLOGY</a:t>
            </a:r>
            <a:r>
              <a:rPr lang="en-US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r>
              <a:rPr lang="en-US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UX</a:t>
            </a:r>
            <a:endParaRPr b="1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5"/>
          <p:cNvCxnSpPr/>
          <p:nvPr/>
        </p:nvCxnSpPr>
        <p:spPr>
          <a:xfrm>
            <a:off x="457200" y="4118527"/>
            <a:ext cx="4109100" cy="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" name="Google Shape;82;p5"/>
          <p:cNvCxnSpPr/>
          <p:nvPr/>
        </p:nvCxnSpPr>
        <p:spPr>
          <a:xfrm>
            <a:off x="4702150" y="4118527"/>
            <a:ext cx="4107900" cy="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" name="Google Shape;83;p5"/>
          <p:cNvSpPr/>
          <p:nvPr/>
        </p:nvSpPr>
        <p:spPr>
          <a:xfrm>
            <a:off x="457200" y="228600"/>
            <a:ext cx="8229600" cy="8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Team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5" title="logo_square_vector_no_slogan-removebg-preview.png"/>
          <p:cNvPicPr preferRelativeResize="0"/>
          <p:nvPr/>
        </p:nvPicPr>
        <p:blipFill rotWithShape="1">
          <a:blip r:embed="rId5">
            <a:alphaModFix/>
          </a:blip>
          <a:srcRect t="23004" b="24320"/>
          <a:stretch/>
        </p:blipFill>
        <p:spPr>
          <a:xfrm>
            <a:off x="7730250" y="36425"/>
            <a:ext cx="1291775" cy="68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5" title="WhatsApp Image 2026-06-10 at 12.25.13-removebg-preview.jpg"/>
          <p:cNvPicPr preferRelativeResize="0"/>
          <p:nvPr/>
        </p:nvPicPr>
        <p:blipFill rotWithShape="1">
          <a:blip r:embed="rId6">
            <a:alphaModFix/>
          </a:blip>
          <a:srcRect l="37001" t="39627" r="33476" b="38147"/>
          <a:stretch/>
        </p:blipFill>
        <p:spPr>
          <a:xfrm>
            <a:off x="5352900" y="1667325"/>
            <a:ext cx="666900" cy="666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6" name="Google Shape;86;p5" title="Screenshot 2026-06-10 124203-removebg-preview.jpg"/>
          <p:cNvPicPr preferRelativeResize="0"/>
          <p:nvPr/>
        </p:nvPicPr>
        <p:blipFill rotWithShape="1">
          <a:blip r:embed="rId7">
            <a:alphaModFix/>
          </a:blip>
          <a:srcRect l="10665" t="14792" r="7489"/>
          <a:stretch/>
        </p:blipFill>
        <p:spPr>
          <a:xfrm>
            <a:off x="7467300" y="1653625"/>
            <a:ext cx="653700" cy="680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7" name="Google Shape;87;p5" title="Screenshot 2026-06-10 124525-removebg-preview.jpg"/>
          <p:cNvPicPr preferRelativeResize="0"/>
          <p:nvPr/>
        </p:nvPicPr>
        <p:blipFill rotWithShape="1">
          <a:blip r:embed="rId8">
            <a:alphaModFix/>
          </a:blip>
          <a:srcRect l="11978" t="16032" r="11970" b="5184"/>
          <a:stretch/>
        </p:blipFill>
        <p:spPr>
          <a:xfrm>
            <a:off x="3238050" y="1670110"/>
            <a:ext cx="667500" cy="66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8" name="Google Shape;88;p5" title="WhatsApp Image 2026-06-10 at 12.47.28-removebg-preview.jpg"/>
          <p:cNvPicPr preferRelativeResize="0"/>
          <p:nvPr/>
        </p:nvPicPr>
        <p:blipFill rotWithShape="1">
          <a:blip r:embed="rId9">
            <a:alphaModFix/>
          </a:blip>
          <a:srcRect l="932" t="952" r="932" b="952"/>
          <a:stretch/>
        </p:blipFill>
        <p:spPr>
          <a:xfrm>
            <a:off x="1113174" y="1670089"/>
            <a:ext cx="667500" cy="667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6" title="logo_square_vector_no_slogan-removebg-preview.png"/>
          <p:cNvPicPr preferRelativeResize="0"/>
          <p:nvPr/>
        </p:nvPicPr>
        <p:blipFill rotWithShape="1">
          <a:blip r:embed="rId3">
            <a:alphaModFix/>
          </a:blip>
          <a:srcRect t="23004" b="24320"/>
          <a:stretch/>
        </p:blipFill>
        <p:spPr>
          <a:xfrm>
            <a:off x="7730250" y="36425"/>
            <a:ext cx="1291775" cy="68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6" descr="אני רוצה תמונה ען סבתא אחת בלבד, לא שתיים"/>
          <p:cNvPicPr preferRelativeResize="0"/>
          <p:nvPr/>
        </p:nvPicPr>
        <p:blipFill rotWithShape="1">
          <a:blip r:embed="rId4">
            <a:alphaModFix/>
          </a:blip>
          <a:srcRect l="5065" r="15551"/>
          <a:stretch/>
        </p:blipFill>
        <p:spPr>
          <a:xfrm>
            <a:off x="840775" y="1014327"/>
            <a:ext cx="4442200" cy="31148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476250" y="1001300"/>
            <a:ext cx="35400" cy="3127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/>
          <p:cNvSpPr txBox="1"/>
          <p:nvPr/>
        </p:nvSpPr>
        <p:spPr>
          <a:xfrm>
            <a:off x="5550975" y="1001300"/>
            <a:ext cx="20775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chemeClr val="lt1"/>
                </a:solidFill>
              </a:rPr>
              <a:t>Case Study </a:t>
            </a:r>
            <a:endParaRPr sz="42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7"/>
          <p:cNvGrpSpPr/>
          <p:nvPr/>
        </p:nvGrpSpPr>
        <p:grpSpPr>
          <a:xfrm>
            <a:off x="457190" y="285750"/>
            <a:ext cx="6768023" cy="857400"/>
            <a:chOff x="457200" y="285750"/>
            <a:chExt cx="8229600" cy="857400"/>
          </a:xfrm>
        </p:grpSpPr>
        <p:sp>
          <p:nvSpPr>
            <p:cNvPr id="104" name="Google Shape;104;p7"/>
            <p:cNvSpPr txBox="1"/>
            <p:nvPr/>
          </p:nvSpPr>
          <p:spPr>
            <a:xfrm>
              <a:off x="457200" y="285750"/>
              <a:ext cx="672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 b="1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The Cost of Inefficiency</a:t>
              </a:r>
              <a:endParaRPr sz="37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7"/>
            <p:cNvSpPr txBox="1"/>
            <p:nvPr/>
          </p:nvSpPr>
          <p:spPr>
            <a:xfrm>
              <a:off x="457200" y="857250"/>
              <a:ext cx="8229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Medical technology advances every year. Patient experience is stuck in the 90s</a:t>
              </a:r>
              <a:endParaRPr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7"/>
          <p:cNvSpPr/>
          <p:nvPr/>
        </p:nvSpPr>
        <p:spPr>
          <a:xfrm>
            <a:off x="476250" y="1428750"/>
            <a:ext cx="3848100" cy="266700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9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4819650" y="1428750"/>
            <a:ext cx="3848100" cy="266700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9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685800" y="2409825"/>
            <a:ext cx="3429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4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~4,500</a:t>
            </a:r>
            <a:endParaRPr sz="2940" b="1">
              <a:solidFill>
                <a:srgbClr val="0D94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876300" y="2981325"/>
            <a:ext cx="304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Annual staff hours spent guiding</a:t>
            </a:r>
            <a:br>
              <a:rPr lang="en-US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lost patients </a:t>
            </a:r>
            <a:endParaRPr sz="1600" b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029200" y="2409825"/>
            <a:ext cx="3429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4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~$556K</a:t>
            </a:r>
            <a:endParaRPr sz="2940" b="1">
              <a:solidFill>
                <a:srgbClr val="0D94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5219700" y="2981325"/>
            <a:ext cx="304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annual loss per hospital from</a:t>
            </a:r>
            <a:endParaRPr sz="1600" b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cancellations &amp; navigation</a:t>
            </a:r>
            <a:endParaRPr sz="1600" b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7" title="logo_square_vector_no_slogan-removebg-preview.png"/>
          <p:cNvPicPr preferRelativeResize="0"/>
          <p:nvPr/>
        </p:nvPicPr>
        <p:blipFill rotWithShape="1">
          <a:blip r:embed="rId4">
            <a:alphaModFix/>
          </a:blip>
          <a:srcRect t="23004" b="24320"/>
          <a:stretch/>
        </p:blipFill>
        <p:spPr>
          <a:xfrm>
            <a:off x="7730250" y="36425"/>
            <a:ext cx="1291775" cy="68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7"/>
          <p:cNvSpPr/>
          <p:nvPr/>
        </p:nvSpPr>
        <p:spPr>
          <a:xfrm>
            <a:off x="457200" y="4906790"/>
            <a:ext cx="822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baseline="30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Sources: Artera 2026 | Emory University 2025 | Signes 2026</a:t>
            </a:r>
            <a:endParaRPr sz="1650" b="0" baseline="300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raphic 121" descr="Coins/money icon for revenue loss car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38900" y="1778000"/>
            <a:ext cx="457200" cy="457200"/>
          </a:xfrm>
          <a:prstGeom prst="rect">
            <a:avLst/>
          </a:prstGeom>
        </p:spPr>
      </p:pic>
      <p:pic>
        <p:nvPicPr>
          <p:cNvPr id="122" name="Graphic 122" descr="Clock icon for staff hours car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47900" y="17780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54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/>
          <p:nvPr/>
        </p:nvSpPr>
        <p:spPr>
          <a:xfrm>
            <a:off x="457200" y="285750"/>
            <a:ext cx="5272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Preoperative Anxiety </a:t>
            </a:r>
            <a:endParaRPr sz="3700" b="1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8" title="logo_square_vector_no_slogan-removebg-preview.png"/>
          <p:cNvPicPr preferRelativeResize="0"/>
          <p:nvPr/>
        </p:nvPicPr>
        <p:blipFill rotWithShape="1">
          <a:blip r:embed="rId4">
            <a:alphaModFix/>
          </a:blip>
          <a:srcRect t="23004" b="24320"/>
          <a:stretch/>
        </p:blipFill>
        <p:spPr>
          <a:xfrm>
            <a:off x="7730250" y="36425"/>
            <a:ext cx="1291775" cy="680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p8"/>
          <p:cNvGrpSpPr/>
          <p:nvPr/>
        </p:nvGrpSpPr>
        <p:grpSpPr>
          <a:xfrm>
            <a:off x="2462673" y="1362950"/>
            <a:ext cx="4218661" cy="3146450"/>
            <a:chOff x="6019800" y="1468638"/>
            <a:chExt cx="2667000" cy="2286000"/>
          </a:xfrm>
        </p:grpSpPr>
        <p:sp>
          <p:nvSpPr>
            <p:cNvPr id="128" name="Google Shape;128;p8"/>
            <p:cNvSpPr/>
            <p:nvPr/>
          </p:nvSpPr>
          <p:spPr>
            <a:xfrm>
              <a:off x="6019800" y="1468638"/>
              <a:ext cx="26670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31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2"/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7124700" y="1724025"/>
              <a:ext cx="457200" cy="457200"/>
            </a:xfrm>
            <a:prstGeom prst="ellipse">
              <a:avLst/>
            </a:prstGeom>
            <a:solidFill>
              <a:srgbClr val="F5F3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8"/>
            <p:cNvSpPr txBox="1"/>
            <p:nvPr/>
          </p:nvSpPr>
          <p:spPr>
            <a:xfrm>
              <a:off x="6173700" y="2181222"/>
              <a:ext cx="2359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4" b="1">
                  <a:solidFill>
                    <a:srgbClr val="0D9488"/>
                  </a:solidFill>
                  <a:latin typeface="Calibri"/>
                  <a:ea typeface="Calibri"/>
                  <a:cs typeface="Calibri"/>
                  <a:sym typeface="Calibri"/>
                </a:rPr>
                <a:t>8 </a:t>
              </a:r>
              <a:r>
                <a:rPr lang="en-US" sz="2477" b="1">
                  <a:solidFill>
                    <a:srgbClr val="0D9488"/>
                  </a:solidFill>
                  <a:latin typeface="Calibri"/>
                  <a:ea typeface="Calibri"/>
                  <a:cs typeface="Calibri"/>
                  <a:sym typeface="Calibri"/>
                </a:rPr>
                <a:t>out of</a:t>
              </a:r>
              <a:r>
                <a:rPr lang="en-US" sz="4404" b="1">
                  <a:solidFill>
                    <a:srgbClr val="0D9488"/>
                  </a:solidFill>
                  <a:latin typeface="Calibri"/>
                  <a:ea typeface="Calibri"/>
                  <a:cs typeface="Calibri"/>
                  <a:sym typeface="Calibri"/>
                </a:rPr>
                <a:t> 10 </a:t>
              </a:r>
              <a:r>
                <a:rPr lang="en-US" sz="2477" b="1">
                  <a:solidFill>
                    <a:srgbClr val="0D9488"/>
                  </a:solidFill>
                  <a:latin typeface="Calibri"/>
                  <a:ea typeface="Calibri"/>
                  <a:cs typeface="Calibri"/>
                  <a:sym typeface="Calibri"/>
                </a:rPr>
                <a:t>patients</a:t>
              </a:r>
              <a:endParaRPr sz="4404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1032"/>
                </a:spcBef>
                <a:spcAft>
                  <a:spcPts val="0"/>
                </a:spcAft>
                <a:buNone/>
              </a:pPr>
              <a:r>
                <a:rPr lang="en-US" sz="1789" b="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experience clinical anxiety </a:t>
              </a:r>
              <a:br>
                <a:rPr lang="en-US" sz="1789" b="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789" b="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before a medical procedure</a:t>
              </a:r>
              <a:endParaRPr sz="1789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8"/>
          <p:cNvSpPr txBox="1"/>
          <p:nvPr/>
        </p:nvSpPr>
        <p:spPr>
          <a:xfrm>
            <a:off x="457190" y="857250"/>
            <a:ext cx="6768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emotional toll of outdated healthcare journeys</a:t>
            </a:r>
            <a:endParaRPr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457200" y="4906790"/>
            <a:ext cx="822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baseline="30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Sources: Artera 2026 | Emory University 2025 | Signes 2026</a:t>
            </a:r>
            <a:endParaRPr sz="1650" b="0" baseline="300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raphic 134" descr="Head with gears icon representing psychology/mental healt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2118" y="1772118"/>
            <a:ext cx="519764" cy="51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922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/>
          <p:nvPr/>
        </p:nvSpPr>
        <p:spPr>
          <a:xfrm>
            <a:off x="0" y="-5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grpSp>
        <p:nvGrpSpPr>
          <p:cNvPr id="143" name="Google Shape;143;p9"/>
          <p:cNvGrpSpPr/>
          <p:nvPr/>
        </p:nvGrpSpPr>
        <p:grpSpPr>
          <a:xfrm>
            <a:off x="457200" y="285750"/>
            <a:ext cx="6667500" cy="762150"/>
            <a:chOff x="457200" y="285750"/>
            <a:chExt cx="6667500" cy="762150"/>
          </a:xfrm>
        </p:grpSpPr>
        <p:sp>
          <p:nvSpPr>
            <p:cNvPr id="144" name="Google Shape;144;p9"/>
            <p:cNvSpPr txBox="1"/>
            <p:nvPr/>
          </p:nvSpPr>
          <p:spPr>
            <a:xfrm>
              <a:off x="457200" y="285750"/>
              <a:ext cx="666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 b="1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The Israeli Healthcare Leak </a:t>
              </a:r>
              <a:endParaRPr sz="37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9"/>
            <p:cNvSpPr txBox="1"/>
            <p:nvPr/>
          </p:nvSpPr>
          <p:spPr>
            <a:xfrm>
              <a:off x="457200" y="762000"/>
              <a:ext cx="666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Quantifying the direct financial loss of missed hospital appointments </a:t>
              </a:r>
              <a:endParaRPr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9"/>
          <p:cNvGrpSpPr/>
          <p:nvPr/>
        </p:nvGrpSpPr>
        <p:grpSpPr>
          <a:xfrm>
            <a:off x="1791174" y="1184027"/>
            <a:ext cx="2651809" cy="2156084"/>
            <a:chOff x="1580370" y="1557045"/>
            <a:chExt cx="2742020" cy="2229431"/>
          </a:xfrm>
        </p:grpSpPr>
        <p:sp>
          <p:nvSpPr>
            <p:cNvPr id="147" name="Google Shape;147;p9"/>
            <p:cNvSpPr/>
            <p:nvPr/>
          </p:nvSpPr>
          <p:spPr>
            <a:xfrm>
              <a:off x="1580370" y="1690976"/>
              <a:ext cx="2095500" cy="2095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368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79"/>
            </a:p>
          </p:txBody>
        </p:sp>
        <p:pic>
          <p:nvPicPr>
            <p:cNvPr id="148" name="Google Shape;148;p9"/>
            <p:cNvPicPr preferRelativeResize="0"/>
            <p:nvPr/>
          </p:nvPicPr>
          <p:blipFill rotWithShape="1">
            <a:blip r:embed="rId3">
              <a:alphaModFix/>
            </a:blip>
            <a:srcRect l="-38338" t="-56926" r="-20216" b="-40664"/>
            <a:stretch/>
          </p:blipFill>
          <p:spPr>
            <a:xfrm rot="2284649">
              <a:off x="2728923" y="1557045"/>
              <a:ext cx="1593467" cy="14174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9"/>
            <p:cNvSpPr txBox="1"/>
            <p:nvPr/>
          </p:nvSpPr>
          <p:spPr>
            <a:xfrm>
              <a:off x="1675628" y="2262468"/>
              <a:ext cx="1905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400,000</a:t>
              </a:r>
              <a:endParaRPr sz="2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1" b="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Annual</a:t>
              </a:r>
              <a:br>
                <a:rPr lang="en-US" sz="1351" b="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351" b="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Appointments</a:t>
              </a:r>
              <a:endParaRPr sz="1351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0" name="Google Shape;15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48338">
            <a:off x="4017854" y="1597923"/>
            <a:ext cx="1168388" cy="306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48835">
            <a:off x="5154959" y="1600892"/>
            <a:ext cx="83178" cy="7146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9"/>
          <p:cNvSpPr txBox="1"/>
          <p:nvPr/>
        </p:nvSpPr>
        <p:spPr>
          <a:xfrm>
            <a:off x="5311202" y="1430742"/>
            <a:ext cx="2310628" cy="949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15% = 60,000</a:t>
            </a:r>
            <a:endParaRPr sz="2800" b="1">
              <a:solidFill>
                <a:srgbClr val="0D94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Missed Appointments Every Year</a:t>
            </a:r>
            <a:endParaRPr sz="1796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1182900" y="3733900"/>
            <a:ext cx="6778200" cy="12036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84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651"/>
          </a:p>
        </p:txBody>
      </p:sp>
      <p:sp>
        <p:nvSpPr>
          <p:cNvPr id="154" name="Google Shape;154;p9"/>
          <p:cNvSpPr txBox="1"/>
          <p:nvPr/>
        </p:nvSpPr>
        <p:spPr>
          <a:xfrm>
            <a:off x="1521811" y="3945209"/>
            <a:ext cx="16944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60,000</a:t>
            </a:r>
            <a:endParaRPr sz="2400" b="1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6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Missed Appointments</a:t>
            </a:r>
            <a:endParaRPr sz="1416" b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3645614" y="2725641"/>
            <a:ext cx="2151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4" b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3555274" y="3945209"/>
            <a:ext cx="16944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₪</a:t>
            </a:r>
            <a:r>
              <a:rPr lang="en-US" sz="2400" b="1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6" b="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Min. Cost per Slot</a:t>
            </a:r>
            <a:endParaRPr sz="1416" b="0" dirty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5201906" y="3825351"/>
            <a:ext cx="3390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3200" b="0" dirty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5588738" y="3869239"/>
            <a:ext cx="2033400" cy="9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3736" b="1" dirty="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18M</a:t>
            </a:r>
            <a:r>
              <a:rPr lang="en-US" sz="4000" b="1" dirty="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₪</a:t>
            </a:r>
            <a:endParaRPr sz="3736" b="1" dirty="0">
              <a:solidFill>
                <a:srgbClr val="0D94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6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Min. </a:t>
            </a:r>
            <a:r>
              <a:rPr lang="en-US" sz="1416" b="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Total Annual Loss</a:t>
            </a:r>
            <a:endParaRPr sz="1416" b="0" dirty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3292993" y="4002339"/>
            <a:ext cx="339000" cy="37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0"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sz="2400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lang="en-US" sz="2400" dirty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9" title="logo_square_vector_no_slogan-removebg-preview.png"/>
          <p:cNvPicPr preferRelativeResize="0"/>
          <p:nvPr/>
        </p:nvPicPr>
        <p:blipFill rotWithShape="1">
          <a:blip r:embed="rId6">
            <a:alphaModFix/>
          </a:blip>
          <a:srcRect t="23004" b="24320"/>
          <a:stretch/>
        </p:blipFill>
        <p:spPr>
          <a:xfrm>
            <a:off x="7730250" y="36425"/>
            <a:ext cx="1291775" cy="6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0" title="logo_square_vector_no_slogan-removebg-preview.png"/>
          <p:cNvPicPr preferRelativeResize="0"/>
          <p:nvPr/>
        </p:nvPicPr>
        <p:blipFill rotWithShape="1">
          <a:blip r:embed="rId4">
            <a:alphaModFix/>
          </a:blip>
          <a:srcRect t="23004" b="24320"/>
          <a:stretch/>
        </p:blipFill>
        <p:spPr>
          <a:xfrm>
            <a:off x="7730250" y="36425"/>
            <a:ext cx="1291775" cy="680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10"/>
          <p:cNvGrpSpPr/>
          <p:nvPr/>
        </p:nvGrpSpPr>
        <p:grpSpPr>
          <a:xfrm>
            <a:off x="457182" y="304800"/>
            <a:ext cx="6238860" cy="857400"/>
            <a:chOff x="457200" y="304800"/>
            <a:chExt cx="8229600" cy="857400"/>
          </a:xfrm>
        </p:grpSpPr>
        <p:sp>
          <p:nvSpPr>
            <p:cNvPr id="168" name="Google Shape;168;p10"/>
            <p:cNvSpPr txBox="1"/>
            <p:nvPr/>
          </p:nvSpPr>
          <p:spPr>
            <a:xfrm>
              <a:off x="457200" y="304800"/>
              <a:ext cx="8229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 b="1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The Financial Gap</a:t>
              </a:r>
              <a:endParaRPr sz="37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0"/>
            <p:cNvSpPr txBox="1"/>
            <p:nvPr/>
          </p:nvSpPr>
          <p:spPr>
            <a:xfrm>
              <a:off x="457200" y="876300"/>
              <a:ext cx="8229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The staggering economic impact of patient no-shows</a:t>
              </a:r>
              <a:endParaRPr sz="1400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10"/>
          <p:cNvSpPr/>
          <p:nvPr/>
        </p:nvSpPr>
        <p:spPr>
          <a:xfrm>
            <a:off x="457200" y="4906790"/>
            <a:ext cx="822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baseline="30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Sources: Artera 2026 | Emory University 2025 | Signes 2026</a:t>
            </a:r>
            <a:endParaRPr sz="1650" b="0" baseline="300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" name="Google Shape;171;p10"/>
          <p:cNvGrpSpPr/>
          <p:nvPr/>
        </p:nvGrpSpPr>
        <p:grpSpPr>
          <a:xfrm>
            <a:off x="785150" y="1605704"/>
            <a:ext cx="7573800" cy="2565464"/>
            <a:chOff x="785075" y="1524000"/>
            <a:chExt cx="7573800" cy="2857500"/>
          </a:xfrm>
        </p:grpSpPr>
        <p:sp>
          <p:nvSpPr>
            <p:cNvPr id="172" name="Google Shape;172;p10"/>
            <p:cNvSpPr/>
            <p:nvPr/>
          </p:nvSpPr>
          <p:spPr>
            <a:xfrm>
              <a:off x="785075" y="1524000"/>
              <a:ext cx="7573800" cy="2857500"/>
            </a:xfrm>
            <a:prstGeom prst="roundRect">
              <a:avLst>
                <a:gd name="adj" fmla="val 6666"/>
              </a:avLst>
            </a:prstGeom>
            <a:solidFill>
              <a:srgbClr val="0F172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0"/>
            <p:cNvSpPr txBox="1"/>
            <p:nvPr/>
          </p:nvSpPr>
          <p:spPr>
            <a:xfrm>
              <a:off x="2571750" y="2571750"/>
              <a:ext cx="4000500" cy="762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960" b="1">
                  <a:solidFill>
                    <a:srgbClr val="0BCDBC"/>
                  </a:solidFill>
                  <a:latin typeface="Calibri"/>
                  <a:ea typeface="Calibri"/>
                  <a:cs typeface="Calibri"/>
                  <a:sym typeface="Calibri"/>
                </a:rPr>
                <a:t>$150B</a:t>
              </a:r>
              <a:endParaRPr sz="4960" b="1">
                <a:solidFill>
                  <a:srgbClr val="0BCDB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0"/>
            <p:cNvSpPr txBox="1"/>
            <p:nvPr/>
          </p:nvSpPr>
          <p:spPr>
            <a:xfrm>
              <a:off x="2571750" y="3429000"/>
              <a:ext cx="4000500" cy="762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Annual cost of patient </a:t>
              </a:r>
              <a:r>
                <a:rPr lang="en-US" sz="2000" b="1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no-shows</a:t>
              </a:r>
              <a:endParaRPr sz="2000" b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in the United States alone</a:t>
              </a:r>
              <a:endParaRPr sz="1600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10"/>
          <p:cNvGrpSpPr/>
          <p:nvPr/>
        </p:nvGrpSpPr>
        <p:grpSpPr>
          <a:xfrm>
            <a:off x="4238625" y="1800225"/>
            <a:ext cx="666900" cy="666900"/>
            <a:chOff x="4238625" y="1571625"/>
            <a:chExt cx="666900" cy="666900"/>
          </a:xfrm>
        </p:grpSpPr>
        <p:sp>
          <p:nvSpPr>
            <p:cNvPr id="177" name="Google Shape;177;p10"/>
            <p:cNvSpPr/>
            <p:nvPr/>
          </p:nvSpPr>
          <p:spPr>
            <a:xfrm>
              <a:off x="4238625" y="1571625"/>
              <a:ext cx="666900" cy="666900"/>
            </a:xfrm>
            <a:prstGeom prst="ellipse">
              <a:avLst/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8" name="Graphic 178" descr="Downward trend arrow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0700" y="1943100"/>
            <a:ext cx="4826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949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/>
          <p:nvPr/>
        </p:nvSpPr>
        <p:spPr>
          <a:xfrm>
            <a:off x="457200" y="285750"/>
            <a:ext cx="2788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MedAssist</a:t>
            </a:r>
            <a:endParaRPr sz="3600" b="1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457200" y="857250"/>
            <a:ext cx="82296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web-based patient companion that follows the patient through every step of their hospital visit.</a:t>
            </a:r>
            <a:endParaRPr sz="1400" b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0" y="4762600"/>
            <a:ext cx="9144000" cy="381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274320" y="4762600"/>
            <a:ext cx="8595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lang="en-US" b="1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400" b="1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ownload · No </a:t>
            </a:r>
            <a:r>
              <a:rPr lang="en-US" b="1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ccount · No </a:t>
            </a:r>
            <a:r>
              <a:rPr lang="en-US" b="1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b="1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assword</a:t>
            </a:r>
            <a:endParaRPr sz="1400" b="1">
              <a:solidFill>
                <a:srgbClr val="2DD4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11" title="logo_square_vector_no_slogan-removebg-preview.png"/>
          <p:cNvPicPr preferRelativeResize="0"/>
          <p:nvPr/>
        </p:nvPicPr>
        <p:blipFill rotWithShape="1">
          <a:blip r:embed="rId4">
            <a:alphaModFix/>
          </a:blip>
          <a:srcRect t="23004" b="24320"/>
          <a:stretch/>
        </p:blipFill>
        <p:spPr>
          <a:xfrm>
            <a:off x="7730250" y="36425"/>
            <a:ext cx="1291775" cy="68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1" title="צק ליסט + טפסים.mo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7813" y="1253150"/>
            <a:ext cx="1677474" cy="33994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90" name="Google Shape;190;p11" title="ניווט חיצוני + פנימי.mov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33275" y="1253185"/>
            <a:ext cx="1677450" cy="339936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91" name="Google Shape;191;p11" title="מסך ההמתנה.mov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58713" y="1251769"/>
            <a:ext cx="1677450" cy="340222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92" name="Google Shape;192;p11"/>
          <p:cNvSpPr/>
          <p:nvPr/>
        </p:nvSpPr>
        <p:spPr>
          <a:xfrm rot="-5400000">
            <a:off x="-447075" y="2683925"/>
            <a:ext cx="2571900" cy="537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1"/>
          <p:cNvSpPr/>
          <p:nvPr/>
        </p:nvSpPr>
        <p:spPr>
          <a:xfrm rot="-5400000">
            <a:off x="-437524" y="2762375"/>
            <a:ext cx="2571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PREPARE</a:t>
            </a: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 rot="-5400000">
            <a:off x="2178375" y="2683925"/>
            <a:ext cx="2571900" cy="5379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1"/>
          <p:cNvSpPr/>
          <p:nvPr/>
        </p:nvSpPr>
        <p:spPr>
          <a:xfrm rot="-5400000">
            <a:off x="2187926" y="2762375"/>
            <a:ext cx="2571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NAVIGATE</a:t>
            </a: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 rot="-5400000">
            <a:off x="4803825" y="2683925"/>
            <a:ext cx="2571900" cy="5379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1"/>
          <p:cNvSpPr/>
          <p:nvPr/>
        </p:nvSpPr>
        <p:spPr>
          <a:xfrm rot="-5400000">
            <a:off x="4813376" y="2762375"/>
            <a:ext cx="2571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WAIT</a:t>
            </a: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/>
          <p:nvPr/>
        </p:nvSpPr>
        <p:spPr>
          <a:xfrm>
            <a:off x="457200" y="304800"/>
            <a:ext cx="5715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Less Anxiety, Fewer Empty Slots </a:t>
            </a:r>
            <a:endParaRPr sz="3200" b="1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457200" y="829969"/>
            <a:ext cx="7620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Driving financial efficiency through psychological friction reduction</a:t>
            </a:r>
            <a:endParaRPr sz="1400" b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12"/>
          <p:cNvCxnSpPr/>
          <p:nvPr/>
        </p:nvCxnSpPr>
        <p:spPr>
          <a:xfrm rot="10800000" flipH="1">
            <a:off x="2407061" y="4651238"/>
            <a:ext cx="5670000" cy="4200"/>
          </a:xfrm>
          <a:prstGeom prst="straightConnector1">
            <a:avLst/>
          </a:prstGeom>
          <a:solidFill>
            <a:srgbClr val="FFFFFF"/>
          </a:solidFill>
          <a:ln w="76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12"/>
          <p:cNvSpPr/>
          <p:nvPr/>
        </p:nvSpPr>
        <p:spPr>
          <a:xfrm>
            <a:off x="3743487" y="2529306"/>
            <a:ext cx="607500" cy="2126100"/>
          </a:xfrm>
          <a:prstGeom prst="roundRect">
            <a:avLst>
              <a:gd name="adj" fmla="val 6666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16"/>
          </a:p>
        </p:txBody>
      </p:sp>
      <p:sp>
        <p:nvSpPr>
          <p:cNvPr id="210" name="Google Shape;210;p12"/>
          <p:cNvSpPr/>
          <p:nvPr/>
        </p:nvSpPr>
        <p:spPr>
          <a:xfrm>
            <a:off x="2877848" y="2282333"/>
            <a:ext cx="607500" cy="237330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16"/>
          </a:p>
        </p:txBody>
      </p:sp>
      <p:sp>
        <p:nvSpPr>
          <p:cNvPr id="211" name="Google Shape;211;p12"/>
          <p:cNvSpPr/>
          <p:nvPr/>
        </p:nvSpPr>
        <p:spPr>
          <a:xfrm>
            <a:off x="6598579" y="3167145"/>
            <a:ext cx="607500" cy="1488300"/>
          </a:xfrm>
          <a:prstGeom prst="roundRect">
            <a:avLst>
              <a:gd name="adj" fmla="val 6666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16"/>
          </a:p>
        </p:txBody>
      </p:sp>
      <p:sp>
        <p:nvSpPr>
          <p:cNvPr id="212" name="Google Shape;212;p12"/>
          <p:cNvSpPr/>
          <p:nvPr/>
        </p:nvSpPr>
        <p:spPr>
          <a:xfrm>
            <a:off x="5793675" y="3021778"/>
            <a:ext cx="607500" cy="163380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16"/>
          </a:p>
        </p:txBody>
      </p:sp>
      <p:sp>
        <p:nvSpPr>
          <p:cNvPr id="213" name="Google Shape;213;p12"/>
          <p:cNvSpPr txBox="1"/>
          <p:nvPr/>
        </p:nvSpPr>
        <p:spPr>
          <a:xfrm>
            <a:off x="2786728" y="4769338"/>
            <a:ext cx="15186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6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Standard Care</a:t>
            </a:r>
            <a:endParaRPr sz="1116" b="1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5824060" y="4769338"/>
            <a:ext cx="15186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6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With MedAssist</a:t>
            </a:r>
            <a:endParaRPr sz="1116" b="1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12"/>
          <p:cNvGrpSpPr/>
          <p:nvPr/>
        </p:nvGrpSpPr>
        <p:grpSpPr>
          <a:xfrm>
            <a:off x="886850" y="2407825"/>
            <a:ext cx="1899992" cy="545973"/>
            <a:chOff x="0" y="0"/>
            <a:chExt cx="1657500" cy="476250"/>
          </a:xfrm>
        </p:grpSpPr>
        <p:sp>
          <p:nvSpPr>
            <p:cNvPr id="216" name="Google Shape;216;p12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name="adj" fmla="val 12500"/>
              </a:avLst>
            </a:prstGeom>
            <a:solidFill>
              <a:srgbClr val="0D94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5"/>
            </a:p>
          </p:txBody>
        </p:sp>
        <p:sp>
          <p:nvSpPr>
            <p:cNvPr id="217" name="Google Shape;217;p12"/>
            <p:cNvSpPr txBox="1"/>
            <p:nvPr/>
          </p:nvSpPr>
          <p:spPr>
            <a:xfrm>
              <a:off x="228600" y="0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61" b="1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No-Show Rate</a:t>
              </a:r>
              <a:endParaRPr sz="1261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2"/>
            <p:cNvSpPr/>
            <p:nvPr/>
          </p:nvSpPr>
          <p:spPr>
            <a:xfrm>
              <a:off x="0" y="285750"/>
              <a:ext cx="152400" cy="152400"/>
            </a:xfrm>
            <a:prstGeom prst="roundRect">
              <a:avLst>
                <a:gd name="adj" fmla="val 12500"/>
              </a:avLst>
            </a:prstGeom>
            <a:solidFill>
              <a:srgbClr val="CBD5E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2"/>
            <p:cNvSpPr txBox="1"/>
            <p:nvPr/>
          </p:nvSpPr>
          <p:spPr>
            <a:xfrm>
              <a:off x="228600" y="285750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61" b="1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Patient Anxiety</a:t>
              </a:r>
              <a:endParaRPr sz="1261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12"/>
          <p:cNvSpPr/>
          <p:nvPr/>
        </p:nvSpPr>
        <p:spPr>
          <a:xfrm>
            <a:off x="5116617" y="2399634"/>
            <a:ext cx="1497900" cy="3993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16"/>
          </a:p>
        </p:txBody>
      </p:sp>
      <p:sp>
        <p:nvSpPr>
          <p:cNvPr id="221" name="Google Shape;221;p12"/>
          <p:cNvSpPr txBox="1"/>
          <p:nvPr/>
        </p:nvSpPr>
        <p:spPr>
          <a:xfrm>
            <a:off x="5116617" y="2399634"/>
            <a:ext cx="14979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2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-38% No-Shows</a:t>
            </a:r>
            <a:endParaRPr sz="1442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6647801" y="2722215"/>
            <a:ext cx="1373100" cy="2997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2475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16"/>
          </a:p>
        </p:txBody>
      </p:sp>
      <p:sp>
        <p:nvSpPr>
          <p:cNvPr id="223" name="Google Shape;223;p12"/>
          <p:cNvSpPr txBox="1"/>
          <p:nvPr/>
        </p:nvSpPr>
        <p:spPr>
          <a:xfrm>
            <a:off x="6668121" y="2718504"/>
            <a:ext cx="13731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-30% Anxiety</a:t>
            </a:r>
            <a:endParaRPr sz="1310" b="1">
              <a:solidFill>
                <a:srgbClr val="0D94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2641950" y="1378075"/>
            <a:ext cx="4868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₪</a:t>
            </a:r>
            <a:r>
              <a:rPr lang="en-US" sz="23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18M X 0.38 = </a:t>
            </a:r>
            <a:r>
              <a:rPr lang="en-US" sz="29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₪6,840,000 saved</a:t>
            </a:r>
            <a:endParaRPr sz="2900" b="1">
              <a:solidFill>
                <a:srgbClr val="0D94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2216383" y="1353075"/>
            <a:ext cx="5517000" cy="6804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3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68"/>
          </a:p>
        </p:txBody>
      </p:sp>
      <p:cxnSp>
        <p:nvCxnSpPr>
          <p:cNvPr id="226" name="Google Shape;226;p12"/>
          <p:cNvCxnSpPr/>
          <p:nvPr/>
        </p:nvCxnSpPr>
        <p:spPr>
          <a:xfrm rot="10800000">
            <a:off x="2574611" y="2179101"/>
            <a:ext cx="7200" cy="2625300"/>
          </a:xfrm>
          <a:prstGeom prst="straightConnector1">
            <a:avLst/>
          </a:prstGeom>
          <a:solidFill>
            <a:srgbClr val="FFFFFF"/>
          </a:solidFill>
          <a:ln w="76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27" name="Google Shape;227;p12" title="logo_square_vector_no_slogan-removebg-preview.png"/>
          <p:cNvPicPr preferRelativeResize="0"/>
          <p:nvPr/>
        </p:nvPicPr>
        <p:blipFill rotWithShape="1">
          <a:blip r:embed="rId3">
            <a:alphaModFix/>
          </a:blip>
          <a:srcRect t="23004" b="24320"/>
          <a:stretch/>
        </p:blipFill>
        <p:spPr>
          <a:xfrm>
            <a:off x="7730250" y="36425"/>
            <a:ext cx="1291775" cy="6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3"/>
          <p:cNvSpPr txBox="1"/>
          <p:nvPr/>
        </p:nvSpPr>
        <p:spPr>
          <a:xfrm>
            <a:off x="457200" y="27622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Market Opportunity</a:t>
            </a:r>
            <a:endParaRPr sz="3400" b="1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 txBox="1"/>
          <p:nvPr/>
        </p:nvSpPr>
        <p:spPr>
          <a:xfrm>
            <a:off x="457200" y="768756"/>
            <a:ext cx="82296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$</a:t>
            </a: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lang="en-US" sz="1300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 global market growing at </a:t>
            </a: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13%</a:t>
            </a:r>
            <a:r>
              <a:rPr lang="en-US" sz="1300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CAGR </a:t>
            </a:r>
            <a:endParaRPr sz="1300" b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1352550" y="1995475"/>
            <a:ext cx="2552700" cy="140970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3"/>
          <p:cNvSpPr txBox="1"/>
          <p:nvPr/>
        </p:nvSpPr>
        <p:spPr>
          <a:xfrm>
            <a:off x="1352550" y="2043100"/>
            <a:ext cx="25527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TAM</a:t>
            </a:r>
            <a:endParaRPr sz="1000" b="1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 txBox="1"/>
          <p:nvPr/>
        </p:nvSpPr>
        <p:spPr>
          <a:xfrm>
            <a:off x="1352550" y="2338375"/>
            <a:ext cx="2552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$25B</a:t>
            </a:r>
            <a:endParaRPr sz="2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 txBox="1"/>
          <p:nvPr/>
        </p:nvSpPr>
        <p:spPr>
          <a:xfrm>
            <a:off x="1352550" y="2900350"/>
            <a:ext cx="2552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Global market (2025)</a:t>
            </a:r>
            <a:endParaRPr sz="900" b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4229388" y="1995475"/>
            <a:ext cx="2286000" cy="140970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3"/>
          <p:cNvSpPr txBox="1"/>
          <p:nvPr/>
        </p:nvSpPr>
        <p:spPr>
          <a:xfrm>
            <a:off x="4229388" y="2338375"/>
            <a:ext cx="2286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$4B</a:t>
            </a:r>
            <a:endParaRPr sz="2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 txBox="1"/>
          <p:nvPr/>
        </p:nvSpPr>
        <p:spPr>
          <a:xfrm>
            <a:off x="4229388" y="2900350"/>
            <a:ext cx="2286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Digitally-ready hospitals</a:t>
            </a:r>
            <a:endParaRPr sz="900" b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6839633" y="1995488"/>
            <a:ext cx="2009700" cy="1409700"/>
          </a:xfrm>
          <a:prstGeom prst="roundRect">
            <a:avLst>
              <a:gd name="adj" fmla="val 5405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3"/>
          <p:cNvSpPr txBox="1"/>
          <p:nvPr/>
        </p:nvSpPr>
        <p:spPr>
          <a:xfrm>
            <a:off x="6839633" y="2043113"/>
            <a:ext cx="20097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SOM</a:t>
            </a:r>
            <a:endParaRPr sz="1000" b="1">
              <a:solidFill>
                <a:srgbClr val="CCFBF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 txBox="1"/>
          <p:nvPr/>
        </p:nvSpPr>
        <p:spPr>
          <a:xfrm>
            <a:off x="6839633" y="2338388"/>
            <a:ext cx="2009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$100M</a:t>
            </a:r>
            <a:endParaRPr sz="2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 txBox="1"/>
          <p:nvPr/>
        </p:nvSpPr>
        <p:spPr>
          <a:xfrm>
            <a:off x="6839633" y="2900363"/>
            <a:ext cx="2009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2.5% of Digitally-Ready Market </a:t>
            </a:r>
            <a:endParaRPr sz="900" b="0">
              <a:solidFill>
                <a:srgbClr val="CCFBF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315450" y="2043100"/>
            <a:ext cx="1409700" cy="1323900"/>
          </a:xfrm>
          <a:prstGeom prst="roundRect">
            <a:avLst>
              <a:gd name="adj" fmla="val 4316"/>
            </a:avLst>
          </a:prstGeom>
          <a:solidFill>
            <a:srgbClr val="CCFBF1"/>
          </a:solidFill>
          <a:ln w="1237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3"/>
          <p:cNvSpPr txBox="1"/>
          <p:nvPr/>
        </p:nvSpPr>
        <p:spPr>
          <a:xfrm>
            <a:off x="315450" y="2147875"/>
            <a:ext cx="14097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CAGR</a:t>
            </a:r>
            <a:endParaRPr sz="1600" b="1">
              <a:solidFill>
                <a:srgbClr val="0D94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13%</a:t>
            </a:r>
            <a:endParaRPr sz="1600" b="1">
              <a:solidFill>
                <a:srgbClr val="0D94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315450" y="2738425"/>
            <a:ext cx="14097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Up t</a:t>
            </a:r>
            <a:r>
              <a:rPr lang="en-US" sz="1000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$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r>
              <a:rPr lang="en-US" sz="1000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000" b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by 2030</a:t>
            </a:r>
            <a:endParaRPr sz="1000" b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 txBox="1"/>
          <p:nvPr/>
        </p:nvSpPr>
        <p:spPr>
          <a:xfrm>
            <a:off x="361950" y="4905375"/>
            <a:ext cx="84105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aseline="30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Sources: The Business Research Company 2026 | Precedence Research 2026</a:t>
            </a:r>
            <a:endParaRPr sz="1650" baseline="300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 txBox="1"/>
          <p:nvPr/>
        </p:nvSpPr>
        <p:spPr>
          <a:xfrm>
            <a:off x="4229487" y="2043100"/>
            <a:ext cx="22860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SAM</a:t>
            </a:r>
            <a:endParaRPr sz="1000" b="1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 rot="790236">
            <a:off x="3971308" y="2035535"/>
            <a:ext cx="183014" cy="35078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3"/>
          <p:cNvSpPr/>
          <p:nvPr/>
        </p:nvSpPr>
        <p:spPr>
          <a:xfrm rot="790236">
            <a:off x="6576115" y="2093059"/>
            <a:ext cx="183014" cy="35078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3"/>
          <p:cNvSpPr/>
          <p:nvPr/>
        </p:nvSpPr>
        <p:spPr>
          <a:xfrm rot="-646530">
            <a:off x="3971382" y="3383845"/>
            <a:ext cx="182925" cy="35183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3"/>
          <p:cNvSpPr/>
          <p:nvPr/>
        </p:nvSpPr>
        <p:spPr>
          <a:xfrm rot="-646530">
            <a:off x="6589658" y="3307645"/>
            <a:ext cx="182925" cy="35183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9" name="Google Shape;259;p13" title="logo_square_vector_no_slogan-removebg-preview.png"/>
          <p:cNvPicPr preferRelativeResize="0"/>
          <p:nvPr/>
        </p:nvPicPr>
        <p:blipFill rotWithShape="1">
          <a:blip r:embed="rId3">
            <a:alphaModFix/>
          </a:blip>
          <a:srcRect t="23004" b="24320"/>
          <a:stretch/>
        </p:blipFill>
        <p:spPr>
          <a:xfrm>
            <a:off x="7730250" y="36425"/>
            <a:ext cx="1291775" cy="6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"/>
          <p:cNvSpPr txBox="1"/>
          <p:nvPr/>
        </p:nvSpPr>
        <p:spPr>
          <a:xfrm>
            <a:off x="457200" y="27622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Competitor Analysis</a:t>
            </a:r>
            <a:endParaRPr sz="3400" b="1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 txBox="1"/>
          <p:nvPr/>
        </p:nvSpPr>
        <p:spPr>
          <a:xfrm>
            <a:off x="457200" y="793785"/>
            <a:ext cx="82296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Bridging the industry's gaps: the only continuous, frictionless journey from pre-arrival to point-of-care</a:t>
            </a:r>
            <a:endParaRPr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0" name="Google Shape;270;p14"/>
          <p:cNvGrpSpPr/>
          <p:nvPr/>
        </p:nvGrpSpPr>
        <p:grpSpPr>
          <a:xfrm>
            <a:off x="533400" y="1619250"/>
            <a:ext cx="8229600" cy="388407"/>
            <a:chOff x="0" y="0"/>
            <a:chExt cx="8229600" cy="304800"/>
          </a:xfrm>
        </p:grpSpPr>
        <p:sp>
          <p:nvSpPr>
            <p:cNvPr id="271" name="Google Shape;271;p14"/>
            <p:cNvSpPr/>
            <p:nvPr/>
          </p:nvSpPr>
          <p:spPr>
            <a:xfrm>
              <a:off x="0" y="0"/>
              <a:ext cx="8229600" cy="304800"/>
            </a:xfrm>
            <a:prstGeom prst="roundRect">
              <a:avLst>
                <a:gd name="adj" fmla="val 12500"/>
              </a:avLst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72" name="Google Shape;272;p14"/>
            <p:cNvSpPr txBox="1"/>
            <p:nvPr/>
          </p:nvSpPr>
          <p:spPr>
            <a:xfrm>
              <a:off x="1485900" y="0"/>
              <a:ext cx="114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Prepare at home</a:t>
              </a:r>
              <a:endParaRPr sz="12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4"/>
            <p:cNvSpPr txBox="1"/>
            <p:nvPr/>
          </p:nvSpPr>
          <p:spPr>
            <a:xfrm>
              <a:off x="2781300" y="0"/>
              <a:ext cx="114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Indoor navigation</a:t>
              </a:r>
              <a:endParaRPr sz="12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4"/>
            <p:cNvSpPr txBox="1"/>
            <p:nvPr/>
          </p:nvSpPr>
          <p:spPr>
            <a:xfrm>
              <a:off x="4076700" y="0"/>
              <a:ext cx="114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Live wait screen</a:t>
              </a:r>
              <a:endParaRPr sz="12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4"/>
            <p:cNvSpPr txBox="1"/>
            <p:nvPr/>
          </p:nvSpPr>
          <p:spPr>
            <a:xfrm>
              <a:off x="5295900" y="0"/>
              <a:ext cx="114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No download</a:t>
              </a:r>
              <a:endParaRPr sz="12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4"/>
            <p:cNvSpPr txBox="1"/>
            <p:nvPr/>
          </p:nvSpPr>
          <p:spPr>
            <a:xfrm>
              <a:off x="6515100" y="0"/>
              <a:ext cx="114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Scalable</a:t>
              </a:r>
              <a:endParaRPr sz="12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" name="Google Shape;277;p14"/>
          <p:cNvGrpSpPr/>
          <p:nvPr/>
        </p:nvGrpSpPr>
        <p:grpSpPr>
          <a:xfrm>
            <a:off x="533400" y="2056208"/>
            <a:ext cx="8229600" cy="364322"/>
            <a:chOff x="0" y="0"/>
            <a:chExt cx="8229600" cy="285900"/>
          </a:xfrm>
        </p:grpSpPr>
        <p:sp>
          <p:nvSpPr>
            <p:cNvPr id="278" name="Google Shape;278;p14"/>
            <p:cNvSpPr/>
            <p:nvPr/>
          </p:nvSpPr>
          <p:spPr>
            <a:xfrm>
              <a:off x="0" y="0"/>
              <a:ext cx="8229600" cy="28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/>
            </a:p>
          </p:txBody>
        </p:sp>
        <p:sp>
          <p:nvSpPr>
            <p:cNvPr id="279" name="Google Shape;279;p14"/>
            <p:cNvSpPr txBox="1"/>
            <p:nvPr/>
          </p:nvSpPr>
          <p:spPr>
            <a:xfrm>
              <a:off x="95250" y="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Navin</a:t>
              </a:r>
              <a:endParaRPr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4"/>
            <p:cNvSpPr txBox="1"/>
            <p:nvPr/>
          </p:nvSpPr>
          <p:spPr>
            <a:xfrm>
              <a:off x="1562100" y="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EF4444"/>
                  </a:solidFill>
                  <a:latin typeface="Calibri"/>
                  <a:ea typeface="Calibri"/>
                  <a:cs typeface="Calibri"/>
                  <a:sym typeface="Calibri"/>
                </a:rPr>
                <a:t>✗</a:t>
              </a:r>
              <a:endParaRPr sz="1600" b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4"/>
            <p:cNvSpPr txBox="1"/>
            <p:nvPr/>
          </p:nvSpPr>
          <p:spPr>
            <a:xfrm>
              <a:off x="2857500" y="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0B981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sz="16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4"/>
            <p:cNvSpPr txBox="1"/>
            <p:nvPr/>
          </p:nvSpPr>
          <p:spPr>
            <a:xfrm>
              <a:off x="4076700" y="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EF4444"/>
                  </a:solidFill>
                  <a:latin typeface="Calibri"/>
                  <a:ea typeface="Calibri"/>
                  <a:cs typeface="Calibri"/>
                  <a:sym typeface="Calibri"/>
                </a:rPr>
                <a:t>✗</a:t>
              </a:r>
              <a:endParaRPr sz="1600" b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4"/>
            <p:cNvSpPr txBox="1"/>
            <p:nvPr/>
          </p:nvSpPr>
          <p:spPr>
            <a:xfrm>
              <a:off x="5295900" y="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EF4444"/>
                  </a:solidFill>
                  <a:latin typeface="Calibri"/>
                  <a:ea typeface="Calibri"/>
                  <a:cs typeface="Calibri"/>
                  <a:sym typeface="Calibri"/>
                </a:rPr>
                <a:t>✗</a:t>
              </a:r>
              <a:endParaRPr sz="1600" b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4"/>
            <p:cNvSpPr txBox="1"/>
            <p:nvPr/>
          </p:nvSpPr>
          <p:spPr>
            <a:xfrm>
              <a:off x="6438900" y="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0B981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sz="16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5" name="Google Shape;285;p14"/>
          <p:cNvGrpSpPr/>
          <p:nvPr/>
        </p:nvGrpSpPr>
        <p:grpSpPr>
          <a:xfrm>
            <a:off x="533400" y="2444615"/>
            <a:ext cx="8229600" cy="364322"/>
            <a:chOff x="0" y="0"/>
            <a:chExt cx="8229600" cy="285900"/>
          </a:xfrm>
        </p:grpSpPr>
        <p:sp>
          <p:nvSpPr>
            <p:cNvPr id="286" name="Google Shape;286;p14"/>
            <p:cNvSpPr/>
            <p:nvPr/>
          </p:nvSpPr>
          <p:spPr>
            <a:xfrm>
              <a:off x="0" y="0"/>
              <a:ext cx="8229600" cy="2859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/>
            </a:p>
          </p:txBody>
        </p:sp>
        <p:sp>
          <p:nvSpPr>
            <p:cNvPr id="287" name="Google Shape;287;p14"/>
            <p:cNvSpPr txBox="1"/>
            <p:nvPr/>
          </p:nvSpPr>
          <p:spPr>
            <a:xfrm>
              <a:off x="95250" y="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Sheba App</a:t>
              </a:r>
              <a:endParaRPr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4"/>
            <p:cNvSpPr txBox="1"/>
            <p:nvPr/>
          </p:nvSpPr>
          <p:spPr>
            <a:xfrm>
              <a:off x="1562100" y="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59E0B"/>
                  </a:solidFill>
                  <a:latin typeface="Calibri"/>
                  <a:ea typeface="Calibri"/>
                  <a:cs typeface="Calibri"/>
                  <a:sym typeface="Calibri"/>
                </a:rPr>
                <a:t>~</a:t>
              </a:r>
              <a:endParaRPr sz="1600" b="1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4"/>
            <p:cNvSpPr txBox="1"/>
            <p:nvPr/>
          </p:nvSpPr>
          <p:spPr>
            <a:xfrm>
              <a:off x="2857500" y="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0B981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sz="16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4"/>
            <p:cNvSpPr txBox="1"/>
            <p:nvPr/>
          </p:nvSpPr>
          <p:spPr>
            <a:xfrm>
              <a:off x="4076700" y="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0B981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sz="16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4"/>
            <p:cNvSpPr txBox="1"/>
            <p:nvPr/>
          </p:nvSpPr>
          <p:spPr>
            <a:xfrm>
              <a:off x="5295900" y="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EF4444"/>
                  </a:solidFill>
                  <a:latin typeface="Calibri"/>
                  <a:ea typeface="Calibri"/>
                  <a:cs typeface="Calibri"/>
                  <a:sym typeface="Calibri"/>
                </a:rPr>
                <a:t>✗</a:t>
              </a:r>
              <a:endParaRPr sz="1600" b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4"/>
            <p:cNvSpPr txBox="1"/>
            <p:nvPr/>
          </p:nvSpPr>
          <p:spPr>
            <a:xfrm>
              <a:off x="6438900" y="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EF4444"/>
                  </a:solidFill>
                  <a:latin typeface="Calibri"/>
                  <a:ea typeface="Calibri"/>
                  <a:cs typeface="Calibri"/>
                  <a:sym typeface="Calibri"/>
                </a:rPr>
                <a:t>✗</a:t>
              </a:r>
              <a:endParaRPr sz="1600" b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14"/>
          <p:cNvGrpSpPr/>
          <p:nvPr/>
        </p:nvGrpSpPr>
        <p:grpSpPr>
          <a:xfrm>
            <a:off x="533400" y="2833022"/>
            <a:ext cx="8229600" cy="364322"/>
            <a:chOff x="0" y="0"/>
            <a:chExt cx="8229600" cy="285900"/>
          </a:xfrm>
        </p:grpSpPr>
        <p:sp>
          <p:nvSpPr>
            <p:cNvPr id="294" name="Google Shape;294;p14"/>
            <p:cNvSpPr/>
            <p:nvPr/>
          </p:nvSpPr>
          <p:spPr>
            <a:xfrm>
              <a:off x="0" y="0"/>
              <a:ext cx="8229600" cy="28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/>
            </a:p>
          </p:txBody>
        </p:sp>
        <p:sp>
          <p:nvSpPr>
            <p:cNvPr id="295" name="Google Shape;295;p14"/>
            <p:cNvSpPr txBox="1"/>
            <p:nvPr/>
          </p:nvSpPr>
          <p:spPr>
            <a:xfrm>
              <a:off x="95250" y="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Sheba First</a:t>
              </a:r>
              <a:endParaRPr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4"/>
            <p:cNvSpPr txBox="1"/>
            <p:nvPr/>
          </p:nvSpPr>
          <p:spPr>
            <a:xfrm>
              <a:off x="1562100" y="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0B981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sz="16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4"/>
            <p:cNvSpPr txBox="1"/>
            <p:nvPr/>
          </p:nvSpPr>
          <p:spPr>
            <a:xfrm>
              <a:off x="2857500" y="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EF4444"/>
                  </a:solidFill>
                  <a:latin typeface="Calibri"/>
                  <a:ea typeface="Calibri"/>
                  <a:cs typeface="Calibri"/>
                  <a:sym typeface="Calibri"/>
                </a:rPr>
                <a:t>✗</a:t>
              </a:r>
              <a:endParaRPr sz="1600" b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4"/>
            <p:cNvSpPr txBox="1"/>
            <p:nvPr/>
          </p:nvSpPr>
          <p:spPr>
            <a:xfrm>
              <a:off x="4076700" y="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EF4444"/>
                  </a:solidFill>
                  <a:latin typeface="Calibri"/>
                  <a:ea typeface="Calibri"/>
                  <a:cs typeface="Calibri"/>
                  <a:sym typeface="Calibri"/>
                </a:rPr>
                <a:t>✗</a:t>
              </a:r>
              <a:endParaRPr sz="1600" b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4"/>
            <p:cNvSpPr txBox="1"/>
            <p:nvPr/>
          </p:nvSpPr>
          <p:spPr>
            <a:xfrm>
              <a:off x="5295900" y="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0B981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sz="16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4"/>
            <p:cNvSpPr txBox="1"/>
            <p:nvPr/>
          </p:nvSpPr>
          <p:spPr>
            <a:xfrm>
              <a:off x="6438900" y="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EF4444"/>
                  </a:solidFill>
                  <a:latin typeface="Calibri"/>
                  <a:ea typeface="Calibri"/>
                  <a:cs typeface="Calibri"/>
                  <a:sym typeface="Calibri"/>
                </a:rPr>
                <a:t>✗</a:t>
              </a:r>
              <a:endParaRPr sz="1600" b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1" name="Google Shape;301;p14"/>
          <p:cNvGrpSpPr/>
          <p:nvPr/>
        </p:nvGrpSpPr>
        <p:grpSpPr>
          <a:xfrm>
            <a:off x="533400" y="3221429"/>
            <a:ext cx="8229600" cy="364322"/>
            <a:chOff x="0" y="0"/>
            <a:chExt cx="8229600" cy="285900"/>
          </a:xfrm>
        </p:grpSpPr>
        <p:sp>
          <p:nvSpPr>
            <p:cNvPr id="302" name="Google Shape;302;p14"/>
            <p:cNvSpPr/>
            <p:nvPr/>
          </p:nvSpPr>
          <p:spPr>
            <a:xfrm>
              <a:off x="0" y="0"/>
              <a:ext cx="8229600" cy="2859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/>
            </a:p>
          </p:txBody>
        </p:sp>
        <p:sp>
          <p:nvSpPr>
            <p:cNvPr id="303" name="Google Shape;303;p14"/>
            <p:cNvSpPr txBox="1"/>
            <p:nvPr/>
          </p:nvSpPr>
          <p:spPr>
            <a:xfrm>
              <a:off x="95250" y="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Mappedin</a:t>
              </a:r>
              <a:endParaRPr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4"/>
            <p:cNvSpPr txBox="1"/>
            <p:nvPr/>
          </p:nvSpPr>
          <p:spPr>
            <a:xfrm>
              <a:off x="1562100" y="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EF4444"/>
                  </a:solidFill>
                  <a:latin typeface="Calibri"/>
                  <a:ea typeface="Calibri"/>
                  <a:cs typeface="Calibri"/>
                  <a:sym typeface="Calibri"/>
                </a:rPr>
                <a:t>✗</a:t>
              </a:r>
              <a:endParaRPr sz="1600" b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4"/>
            <p:cNvSpPr txBox="1"/>
            <p:nvPr/>
          </p:nvSpPr>
          <p:spPr>
            <a:xfrm>
              <a:off x="2857500" y="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0B981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sz="16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4"/>
            <p:cNvSpPr txBox="1"/>
            <p:nvPr/>
          </p:nvSpPr>
          <p:spPr>
            <a:xfrm>
              <a:off x="4076700" y="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EF4444"/>
                  </a:solidFill>
                  <a:latin typeface="Calibri"/>
                  <a:ea typeface="Calibri"/>
                  <a:cs typeface="Calibri"/>
                  <a:sym typeface="Calibri"/>
                </a:rPr>
                <a:t>✗</a:t>
              </a:r>
              <a:endParaRPr sz="1600" b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4"/>
            <p:cNvSpPr txBox="1"/>
            <p:nvPr/>
          </p:nvSpPr>
          <p:spPr>
            <a:xfrm>
              <a:off x="5295900" y="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EF4444"/>
                  </a:solidFill>
                  <a:latin typeface="Calibri"/>
                  <a:ea typeface="Calibri"/>
                  <a:cs typeface="Calibri"/>
                  <a:sym typeface="Calibri"/>
                </a:rPr>
                <a:t>✗</a:t>
              </a:r>
              <a:endParaRPr sz="1600" b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4"/>
            <p:cNvSpPr txBox="1"/>
            <p:nvPr/>
          </p:nvSpPr>
          <p:spPr>
            <a:xfrm>
              <a:off x="6438900" y="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0B981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sz="16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9" name="Google Shape;309;p14"/>
          <p:cNvGrpSpPr/>
          <p:nvPr/>
        </p:nvGrpSpPr>
        <p:grpSpPr>
          <a:xfrm>
            <a:off x="533400" y="3609836"/>
            <a:ext cx="8229600" cy="436957"/>
            <a:chOff x="0" y="0"/>
            <a:chExt cx="8229600" cy="342900"/>
          </a:xfrm>
        </p:grpSpPr>
        <p:sp>
          <p:nvSpPr>
            <p:cNvPr id="310" name="Google Shape;310;p14"/>
            <p:cNvSpPr/>
            <p:nvPr/>
          </p:nvSpPr>
          <p:spPr>
            <a:xfrm>
              <a:off x="0" y="0"/>
              <a:ext cx="8229600" cy="342900"/>
            </a:xfrm>
            <a:prstGeom prst="roundRect">
              <a:avLst>
                <a:gd name="adj" fmla="val 11111"/>
              </a:avLst>
            </a:prstGeom>
            <a:solidFill>
              <a:srgbClr val="0D94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/>
            </a:p>
          </p:txBody>
        </p:sp>
        <p:sp>
          <p:nvSpPr>
            <p:cNvPr id="311" name="Google Shape;311;p14"/>
            <p:cNvSpPr txBox="1"/>
            <p:nvPr/>
          </p:nvSpPr>
          <p:spPr>
            <a:xfrm>
              <a:off x="95250" y="0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MedAssist</a:t>
              </a:r>
              <a:endParaRPr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4"/>
            <p:cNvSpPr txBox="1"/>
            <p:nvPr/>
          </p:nvSpPr>
          <p:spPr>
            <a:xfrm>
              <a:off x="1562100" y="0"/>
              <a:ext cx="1143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4"/>
            <p:cNvSpPr txBox="1"/>
            <p:nvPr/>
          </p:nvSpPr>
          <p:spPr>
            <a:xfrm>
              <a:off x="2857500" y="0"/>
              <a:ext cx="1143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4"/>
            <p:cNvSpPr txBox="1"/>
            <p:nvPr/>
          </p:nvSpPr>
          <p:spPr>
            <a:xfrm>
              <a:off x="4076700" y="0"/>
              <a:ext cx="1143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 txBox="1"/>
            <p:nvPr/>
          </p:nvSpPr>
          <p:spPr>
            <a:xfrm>
              <a:off x="5295900" y="0"/>
              <a:ext cx="1143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4"/>
            <p:cNvSpPr txBox="1"/>
            <p:nvPr/>
          </p:nvSpPr>
          <p:spPr>
            <a:xfrm>
              <a:off x="6438900" y="0"/>
              <a:ext cx="1143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7" name="Google Shape;317;p14" title="logo_square_vector_no_slogan-removebg-preview.png"/>
          <p:cNvPicPr preferRelativeResize="0"/>
          <p:nvPr/>
        </p:nvPicPr>
        <p:blipFill rotWithShape="1">
          <a:blip r:embed="rId3">
            <a:alphaModFix/>
          </a:blip>
          <a:srcRect t="23004" b="24320"/>
          <a:stretch/>
        </p:blipFill>
        <p:spPr>
          <a:xfrm>
            <a:off x="7730250" y="36425"/>
            <a:ext cx="1291775" cy="6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5"/>
          <p:cNvSpPr/>
          <p:nvPr/>
        </p:nvSpPr>
        <p:spPr>
          <a:xfrm>
            <a:off x="457200" y="3048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Measurable Impact</a:t>
            </a:r>
            <a:endParaRPr sz="3700" b="1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457200" y="842031"/>
            <a:ext cx="82296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UN Sustainable Development Goals addressed</a:t>
            </a:r>
            <a:r>
              <a:rPr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- with</a:t>
            </a:r>
            <a:r>
              <a:rPr lang="en-US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targets we can measure within two years. </a:t>
            </a:r>
            <a:endParaRPr b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5" name="Google Shape;325;p15"/>
          <p:cNvGrpSpPr/>
          <p:nvPr/>
        </p:nvGrpSpPr>
        <p:grpSpPr>
          <a:xfrm>
            <a:off x="381000" y="3905250"/>
            <a:ext cx="8382000" cy="952500"/>
            <a:chOff x="381000" y="3905250"/>
            <a:chExt cx="8382000" cy="952500"/>
          </a:xfrm>
        </p:grpSpPr>
        <p:sp>
          <p:nvSpPr>
            <p:cNvPr id="326" name="Google Shape;326;p15"/>
            <p:cNvSpPr/>
            <p:nvPr/>
          </p:nvSpPr>
          <p:spPr>
            <a:xfrm>
              <a:off x="381000" y="3905250"/>
              <a:ext cx="8382000" cy="952500"/>
            </a:xfrm>
            <a:prstGeom prst="roundRect">
              <a:avLst>
                <a:gd name="adj" fmla="val 12000"/>
              </a:avLst>
            </a:prstGeom>
            <a:solidFill>
              <a:srgbClr val="F0FDF4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5"/>
            <p:cNvSpPr txBox="1"/>
            <p:nvPr/>
          </p:nvSpPr>
          <p:spPr>
            <a:xfrm>
              <a:off x="457200" y="3905250"/>
              <a:ext cx="1469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2-Year Targets:</a:t>
              </a:r>
              <a:endParaRPr sz="16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28" name="Google Shape;328;p15"/>
            <p:cNvCxnSpPr/>
            <p:nvPr/>
          </p:nvCxnSpPr>
          <p:spPr>
            <a:xfrm>
              <a:off x="2000250" y="4095750"/>
              <a:ext cx="0" cy="5715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29" name="Google Shape;329;p15"/>
            <p:cNvSpPr txBox="1"/>
            <p:nvPr/>
          </p:nvSpPr>
          <p:spPr>
            <a:xfrm>
              <a:off x="2190750" y="390525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D9488"/>
                  </a:solidFill>
                  <a:latin typeface="Calibri"/>
                  <a:ea typeface="Calibri"/>
                  <a:cs typeface="Calibri"/>
                  <a:sym typeface="Calibri"/>
                </a:rPr>
                <a:t>38% fewer</a:t>
              </a:r>
              <a:endParaRPr sz="24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appointment no-shows</a:t>
              </a:r>
              <a:endParaRPr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5"/>
            <p:cNvSpPr txBox="1"/>
            <p:nvPr/>
          </p:nvSpPr>
          <p:spPr>
            <a:xfrm>
              <a:off x="4381500" y="390525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D9488"/>
                  </a:solidFill>
                  <a:latin typeface="Calibri"/>
                  <a:ea typeface="Calibri"/>
                  <a:cs typeface="Calibri"/>
                  <a:sym typeface="Calibri"/>
                </a:rPr>
                <a:t>30% less</a:t>
              </a:r>
              <a:endParaRPr sz="24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anxiety on admission day</a:t>
              </a:r>
              <a:endParaRPr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5"/>
            <p:cNvSpPr txBox="1"/>
            <p:nvPr/>
          </p:nvSpPr>
          <p:spPr>
            <a:xfrm>
              <a:off x="6572250" y="390525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D9488"/>
                  </a:solidFill>
                  <a:latin typeface="Calibri"/>
                  <a:ea typeface="Calibri"/>
                  <a:cs typeface="Calibri"/>
                  <a:sym typeface="Calibri"/>
                </a:rPr>
                <a:t>3,000 hrs/yr</a:t>
              </a:r>
              <a:endParaRPr sz="24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returned to clinical care</a:t>
              </a:r>
              <a:endParaRPr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2" name="Google Shape;33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538" y="1619975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00" y="1619975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7651" y="1619974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5" title="logo_square_vector_no_slogan-removebg-preview.png"/>
          <p:cNvPicPr preferRelativeResize="0"/>
          <p:nvPr/>
        </p:nvPicPr>
        <p:blipFill rotWithShape="1">
          <a:blip r:embed="rId6">
            <a:alphaModFix/>
          </a:blip>
          <a:srcRect t="23004" b="24320"/>
          <a:stretch/>
        </p:blipFill>
        <p:spPr>
          <a:xfrm>
            <a:off x="7730250" y="36425"/>
            <a:ext cx="1291775" cy="6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6"/>
          <p:cNvSpPr/>
          <p:nvPr/>
        </p:nvSpPr>
        <p:spPr>
          <a:xfrm>
            <a:off x="3309925" y="1409705"/>
            <a:ext cx="2667000" cy="34290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6"/>
          <p:cNvSpPr txBox="1"/>
          <p:nvPr/>
        </p:nvSpPr>
        <p:spPr>
          <a:xfrm>
            <a:off x="476250" y="285750"/>
            <a:ext cx="7143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Business Model</a:t>
            </a:r>
            <a:endParaRPr sz="3700" b="1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friction-free entry strategy built for rapid adoption, scaling into exponential ARR growth.</a:t>
            </a:r>
            <a:endParaRPr sz="1400" b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3" name="Google Shape;343;p16"/>
          <p:cNvGrpSpPr/>
          <p:nvPr/>
        </p:nvGrpSpPr>
        <p:grpSpPr>
          <a:xfrm>
            <a:off x="476250" y="1409700"/>
            <a:ext cx="2667000" cy="3429000"/>
            <a:chOff x="476250" y="1333500"/>
            <a:chExt cx="2667000" cy="3429000"/>
          </a:xfrm>
        </p:grpSpPr>
        <p:sp>
          <p:nvSpPr>
            <p:cNvPr id="344" name="Google Shape;344;p16"/>
            <p:cNvSpPr/>
            <p:nvPr/>
          </p:nvSpPr>
          <p:spPr>
            <a:xfrm>
              <a:off x="476250" y="1333500"/>
              <a:ext cx="2667000" cy="3429000"/>
            </a:xfrm>
            <a:prstGeom prst="roundRect">
              <a:avLst>
                <a:gd name="adj" fmla="val 7142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6"/>
            <p:cNvSpPr txBox="1"/>
            <p:nvPr/>
          </p:nvSpPr>
          <p:spPr>
            <a:xfrm>
              <a:off x="666750" y="1524000"/>
              <a:ext cx="2286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Year 1: </a:t>
              </a:r>
              <a:br>
                <a:rPr lang="en-US" sz="16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6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Low-Friction Entry</a:t>
              </a:r>
              <a:endParaRPr sz="16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endParaRPr sz="11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Q1 - Pilot</a:t>
              </a:r>
              <a:endParaRPr sz="1100" b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rgbClr val="0D948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FREE</a:t>
              </a:r>
              <a:endParaRPr sz="240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Q2 - Q4</a:t>
              </a:r>
              <a:endParaRPr sz="1100" b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>
                  <a:solidFill>
                    <a:srgbClr val="0D948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₪200K</a:t>
              </a:r>
              <a:endParaRPr sz="3200" b="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6" name="Google Shape;346;p16"/>
          <p:cNvGrpSpPr/>
          <p:nvPr/>
        </p:nvGrpSpPr>
        <p:grpSpPr>
          <a:xfrm>
            <a:off x="6143625" y="1409700"/>
            <a:ext cx="2667000" cy="3429000"/>
            <a:chOff x="3286125" y="1333500"/>
            <a:chExt cx="2667000" cy="3429000"/>
          </a:xfrm>
        </p:grpSpPr>
        <p:sp>
          <p:nvSpPr>
            <p:cNvPr id="347" name="Google Shape;347;p16"/>
            <p:cNvSpPr/>
            <p:nvPr/>
          </p:nvSpPr>
          <p:spPr>
            <a:xfrm>
              <a:off x="3286125" y="1333500"/>
              <a:ext cx="2667000" cy="3429000"/>
            </a:xfrm>
            <a:prstGeom prst="roundRect">
              <a:avLst>
                <a:gd name="adj" fmla="val 7142"/>
              </a:avLst>
            </a:prstGeom>
            <a:solidFill>
              <a:srgbClr val="F0FDF4"/>
            </a:solidFill>
            <a:ln w="9525" cap="flat" cmpd="sng">
              <a:solidFill>
                <a:srgbClr val="BBF7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6"/>
            <p:cNvSpPr txBox="1"/>
            <p:nvPr/>
          </p:nvSpPr>
          <p:spPr>
            <a:xfrm>
              <a:off x="3476625" y="1524000"/>
              <a:ext cx="2286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Year 2+: </a:t>
              </a:r>
              <a:br>
                <a:rPr lang="en-US" sz="16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6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Shared Success</a:t>
              </a:r>
              <a:endParaRPr sz="16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endParaRPr sz="11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Model</a:t>
              </a:r>
              <a:endParaRPr sz="1100" b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ROI-Driven Subscription</a:t>
              </a:r>
              <a:endParaRPr sz="18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Pricing Scale</a:t>
              </a:r>
              <a:endParaRPr sz="1100" b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rgbClr val="0D948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Value-Based</a:t>
              </a:r>
              <a:endParaRPr sz="2400" b="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49" name="Google Shape;349;p16" title="logo_square_vector_no_slogan-removebg-preview.png"/>
          <p:cNvPicPr preferRelativeResize="0"/>
          <p:nvPr/>
        </p:nvPicPr>
        <p:blipFill rotWithShape="1">
          <a:blip r:embed="rId4">
            <a:alphaModFix/>
          </a:blip>
          <a:srcRect t="23004" b="24320"/>
          <a:stretch/>
        </p:blipFill>
        <p:spPr>
          <a:xfrm>
            <a:off x="7730250" y="36425"/>
            <a:ext cx="1291775" cy="680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0" name="Google Shape;350;p16"/>
          <p:cNvGrpSpPr/>
          <p:nvPr/>
        </p:nvGrpSpPr>
        <p:grpSpPr>
          <a:xfrm>
            <a:off x="3414713" y="1552575"/>
            <a:ext cx="2419500" cy="3000375"/>
            <a:chOff x="6200775" y="1476375"/>
            <a:chExt cx="2419500" cy="3000375"/>
          </a:xfrm>
        </p:grpSpPr>
        <p:sp>
          <p:nvSpPr>
            <p:cNvPr id="351" name="Google Shape;351;p16"/>
            <p:cNvSpPr txBox="1"/>
            <p:nvPr/>
          </p:nvSpPr>
          <p:spPr>
            <a:xfrm>
              <a:off x="6238875" y="1476375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Projected Annual Recurring Revenue (ARR)</a:t>
              </a:r>
              <a:endParaRPr sz="9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52" name="Google Shape;352;p16"/>
            <p:cNvCxnSpPr/>
            <p:nvPr/>
          </p:nvCxnSpPr>
          <p:spPr>
            <a:xfrm>
              <a:off x="6477000" y="4191000"/>
              <a:ext cx="20001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3" name="Google Shape;353;p16"/>
            <p:cNvCxnSpPr/>
            <p:nvPr/>
          </p:nvCxnSpPr>
          <p:spPr>
            <a:xfrm rot="10800000">
              <a:off x="6477000" y="1809600"/>
              <a:ext cx="0" cy="23814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54" name="Google Shape;354;p16"/>
            <p:cNvSpPr txBox="1"/>
            <p:nvPr/>
          </p:nvSpPr>
          <p:spPr>
            <a:xfrm rot="-5400000">
              <a:off x="5819775" y="21907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Revenue (ILS)</a:t>
              </a:r>
              <a:endParaRPr sz="800" b="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pic>
          <p:nvPicPr>
            <p:cNvPr id="355" name="Google Shape;355;p1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457950" y="1790700"/>
              <a:ext cx="2038500" cy="2371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6" name="Google Shape;356;p16"/>
            <p:cNvSpPr/>
            <p:nvPr/>
          </p:nvSpPr>
          <p:spPr>
            <a:xfrm>
              <a:off x="6438900" y="4105275"/>
              <a:ext cx="76200" cy="76200"/>
            </a:xfrm>
            <a:prstGeom prst="ellipse">
              <a:avLst/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6"/>
            <p:cNvSpPr/>
            <p:nvPr/>
          </p:nvSpPr>
          <p:spPr>
            <a:xfrm>
              <a:off x="7420050" y="3912325"/>
              <a:ext cx="114300" cy="114300"/>
            </a:xfrm>
            <a:prstGeom prst="ellipse">
              <a:avLst/>
            </a:prstGeom>
            <a:solidFill>
              <a:srgbClr val="0D94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6"/>
            <p:cNvSpPr txBox="1"/>
            <p:nvPr/>
          </p:nvSpPr>
          <p:spPr>
            <a:xfrm>
              <a:off x="6274500" y="4286250"/>
              <a:ext cx="61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Year 1</a:t>
              </a:r>
              <a:endParaRPr sz="900" b="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59" name="Google Shape;359;p16"/>
            <p:cNvSpPr txBox="1"/>
            <p:nvPr/>
          </p:nvSpPr>
          <p:spPr>
            <a:xfrm>
              <a:off x="7238850" y="4286250"/>
              <a:ext cx="476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Year 2+</a:t>
              </a:r>
              <a:endParaRPr sz="900" b="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" name="Google Shape;365;p17"/>
          <p:cNvGrpSpPr/>
          <p:nvPr/>
        </p:nvGrpSpPr>
        <p:grpSpPr>
          <a:xfrm>
            <a:off x="400050" y="2819400"/>
            <a:ext cx="8343900" cy="114300"/>
            <a:chOff x="400050" y="2819400"/>
            <a:chExt cx="8343900" cy="114300"/>
          </a:xfrm>
        </p:grpSpPr>
        <p:sp>
          <p:nvSpPr>
            <p:cNvPr id="366" name="Google Shape;366;p17"/>
            <p:cNvSpPr/>
            <p:nvPr/>
          </p:nvSpPr>
          <p:spPr>
            <a:xfrm>
              <a:off x="457200" y="2857500"/>
              <a:ext cx="8229600" cy="381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400050" y="2819400"/>
              <a:ext cx="114300" cy="114300"/>
            </a:xfrm>
            <a:prstGeom prst="ellipse">
              <a:avLst/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8629650" y="2819400"/>
              <a:ext cx="114300" cy="1143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" name="Google Shape;369;p17"/>
          <p:cNvGrpSpPr/>
          <p:nvPr/>
        </p:nvGrpSpPr>
        <p:grpSpPr>
          <a:xfrm>
            <a:off x="457200" y="2047875"/>
            <a:ext cx="1524000" cy="800250"/>
            <a:chOff x="457200" y="2047875"/>
            <a:chExt cx="1524000" cy="800250"/>
          </a:xfrm>
        </p:grpSpPr>
        <p:sp>
          <p:nvSpPr>
            <p:cNvPr id="370" name="Google Shape;370;p17"/>
            <p:cNvSpPr/>
            <p:nvPr/>
          </p:nvSpPr>
          <p:spPr>
            <a:xfrm>
              <a:off x="457200" y="2047875"/>
              <a:ext cx="1524000" cy="666900"/>
            </a:xfrm>
            <a:prstGeom prst="roundRect">
              <a:avLst>
                <a:gd name="adj" fmla="val 11428"/>
              </a:avLst>
            </a:prstGeom>
            <a:solidFill>
              <a:srgbClr val="0D9488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7"/>
            <p:cNvSpPr txBox="1"/>
            <p:nvPr/>
          </p:nvSpPr>
          <p:spPr>
            <a:xfrm>
              <a:off x="457200" y="2047875"/>
              <a:ext cx="1524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625" tIns="47625" rIns="47625" bIns="47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D9488"/>
                  </a:solidFill>
                  <a:latin typeface="Calibri"/>
                  <a:ea typeface="Calibri"/>
                  <a:cs typeface="Calibri"/>
                  <a:sym typeface="Calibri"/>
                </a:rPr>
                <a:t>User journey mapping</a:t>
              </a:r>
              <a:endParaRPr sz="1100" b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May '26</a:t>
              </a:r>
              <a:endParaRPr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72" name="Google Shape;372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09675" y="2714625"/>
              <a:ext cx="19200" cy="13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3" name="Google Shape;373;p17"/>
          <p:cNvGrpSpPr/>
          <p:nvPr/>
        </p:nvGrpSpPr>
        <p:grpSpPr>
          <a:xfrm>
            <a:off x="1619250" y="2867025"/>
            <a:ext cx="1524000" cy="800250"/>
            <a:chOff x="1619250" y="2867025"/>
            <a:chExt cx="1524000" cy="800250"/>
          </a:xfrm>
        </p:grpSpPr>
        <p:sp>
          <p:nvSpPr>
            <p:cNvPr id="374" name="Google Shape;374;p17"/>
            <p:cNvSpPr/>
            <p:nvPr/>
          </p:nvSpPr>
          <p:spPr>
            <a:xfrm>
              <a:off x="1619250" y="3000375"/>
              <a:ext cx="1524000" cy="666900"/>
            </a:xfrm>
            <a:prstGeom prst="roundRect">
              <a:avLst>
                <a:gd name="adj" fmla="val 11428"/>
              </a:avLst>
            </a:prstGeom>
            <a:solidFill>
              <a:srgbClr val="0891B2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7"/>
            <p:cNvSpPr txBox="1"/>
            <p:nvPr/>
          </p:nvSpPr>
          <p:spPr>
            <a:xfrm>
              <a:off x="1619250" y="3000375"/>
              <a:ext cx="1524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625" tIns="47625" rIns="47625" bIns="47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891B2"/>
                  </a:solidFill>
                  <a:latin typeface="Calibri"/>
                  <a:ea typeface="Calibri"/>
                  <a:cs typeface="Calibri"/>
                  <a:sym typeface="Calibri"/>
                </a:rPr>
                <a:t>UI/UX interface design</a:t>
              </a:r>
              <a:endParaRPr sz="1100" b="1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Jun '26</a:t>
              </a:r>
              <a:endParaRPr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76" name="Google Shape;376;p1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371725" y="2867025"/>
              <a:ext cx="19200" cy="13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7" name="Google Shape;377;p17"/>
          <p:cNvGrpSpPr/>
          <p:nvPr/>
        </p:nvGrpSpPr>
        <p:grpSpPr>
          <a:xfrm>
            <a:off x="2762250" y="2047875"/>
            <a:ext cx="1524000" cy="800250"/>
            <a:chOff x="2762250" y="2047875"/>
            <a:chExt cx="1524000" cy="800250"/>
          </a:xfrm>
        </p:grpSpPr>
        <p:sp>
          <p:nvSpPr>
            <p:cNvPr id="378" name="Google Shape;378;p17"/>
            <p:cNvSpPr/>
            <p:nvPr/>
          </p:nvSpPr>
          <p:spPr>
            <a:xfrm>
              <a:off x="2762250" y="2047875"/>
              <a:ext cx="1524000" cy="666900"/>
            </a:xfrm>
            <a:prstGeom prst="roundRect">
              <a:avLst>
                <a:gd name="adj" fmla="val 11428"/>
              </a:avLst>
            </a:prstGeom>
            <a:solidFill>
              <a:srgbClr val="7C3AED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7"/>
            <p:cNvSpPr txBox="1"/>
            <p:nvPr/>
          </p:nvSpPr>
          <p:spPr>
            <a:xfrm>
              <a:off x="2762250" y="2047875"/>
              <a:ext cx="1524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625" tIns="47625" rIns="47625" bIns="47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7C3AED"/>
                  </a:solidFill>
                  <a:latin typeface="Calibri"/>
                  <a:ea typeface="Calibri"/>
                  <a:cs typeface="Calibri"/>
                  <a:sym typeface="Calibri"/>
                </a:rPr>
                <a:t>Navigation engine dev.</a:t>
              </a:r>
              <a:endParaRPr sz="1100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Jun - Jul '26</a:t>
              </a:r>
              <a:endParaRPr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80" name="Google Shape;380;p1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514725" y="2714625"/>
              <a:ext cx="19200" cy="13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1" name="Google Shape;381;p17"/>
          <p:cNvGrpSpPr/>
          <p:nvPr/>
        </p:nvGrpSpPr>
        <p:grpSpPr>
          <a:xfrm>
            <a:off x="3952875" y="2867025"/>
            <a:ext cx="1524000" cy="800250"/>
            <a:chOff x="3952875" y="2867025"/>
            <a:chExt cx="1524000" cy="800250"/>
          </a:xfrm>
        </p:grpSpPr>
        <p:sp>
          <p:nvSpPr>
            <p:cNvPr id="382" name="Google Shape;382;p17"/>
            <p:cNvSpPr/>
            <p:nvPr/>
          </p:nvSpPr>
          <p:spPr>
            <a:xfrm>
              <a:off x="3952875" y="3000375"/>
              <a:ext cx="1524000" cy="666900"/>
            </a:xfrm>
            <a:prstGeom prst="roundRect">
              <a:avLst>
                <a:gd name="adj" fmla="val 11428"/>
              </a:avLst>
            </a:prstGeom>
            <a:solidFill>
              <a:srgbClr val="7C3AED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7"/>
            <p:cNvSpPr txBox="1"/>
            <p:nvPr/>
          </p:nvSpPr>
          <p:spPr>
            <a:xfrm>
              <a:off x="3952875" y="3000375"/>
              <a:ext cx="1524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625" tIns="47625" rIns="47625" bIns="47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7C3AED"/>
                  </a:solidFill>
                  <a:latin typeface="Calibri"/>
                  <a:ea typeface="Calibri"/>
                  <a:cs typeface="Calibri"/>
                  <a:sym typeface="Calibri"/>
                </a:rPr>
                <a:t>Full-Stack code + PWA</a:t>
              </a:r>
              <a:endParaRPr sz="1100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Jul - Aug '26</a:t>
              </a:r>
              <a:endParaRPr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84" name="Google Shape;384;p1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05350" y="2867025"/>
              <a:ext cx="19200" cy="13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5" name="Google Shape;385;p17"/>
          <p:cNvGrpSpPr/>
          <p:nvPr/>
        </p:nvGrpSpPr>
        <p:grpSpPr>
          <a:xfrm>
            <a:off x="5238750" y="2047875"/>
            <a:ext cx="1524000" cy="800250"/>
            <a:chOff x="5238750" y="2047875"/>
            <a:chExt cx="1524000" cy="800250"/>
          </a:xfrm>
        </p:grpSpPr>
        <p:sp>
          <p:nvSpPr>
            <p:cNvPr id="386" name="Google Shape;386;p17"/>
            <p:cNvSpPr/>
            <p:nvPr/>
          </p:nvSpPr>
          <p:spPr>
            <a:xfrm>
              <a:off x="5238750" y="2047875"/>
              <a:ext cx="1524000" cy="666900"/>
            </a:xfrm>
            <a:prstGeom prst="roundRect">
              <a:avLst>
                <a:gd name="adj" fmla="val 11428"/>
              </a:avLst>
            </a:prstGeom>
            <a:solidFill>
              <a:srgbClr val="F97316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7"/>
            <p:cNvSpPr txBox="1"/>
            <p:nvPr/>
          </p:nvSpPr>
          <p:spPr>
            <a:xfrm>
              <a:off x="5238750" y="2047875"/>
              <a:ext cx="1524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625" tIns="47625" rIns="47625" bIns="47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97316"/>
                  </a:solidFill>
                  <a:latin typeface="Calibri"/>
                  <a:ea typeface="Calibri"/>
                  <a:cs typeface="Calibri"/>
                  <a:sym typeface="Calibri"/>
                </a:rPr>
                <a:t>Cloud infra + SMS</a:t>
              </a:r>
              <a:endParaRPr sz="1100" b="1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Jul - Aug '26</a:t>
              </a:r>
              <a:endParaRPr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88" name="Google Shape;388;p1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991225" y="2714625"/>
              <a:ext cx="19200" cy="13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9" name="Google Shape;389;p17"/>
          <p:cNvGrpSpPr/>
          <p:nvPr/>
        </p:nvGrpSpPr>
        <p:grpSpPr>
          <a:xfrm>
            <a:off x="6477000" y="2867025"/>
            <a:ext cx="1524000" cy="800250"/>
            <a:chOff x="6477000" y="2867025"/>
            <a:chExt cx="1524000" cy="800250"/>
          </a:xfrm>
        </p:grpSpPr>
        <p:sp>
          <p:nvSpPr>
            <p:cNvPr id="390" name="Google Shape;390;p17"/>
            <p:cNvSpPr/>
            <p:nvPr/>
          </p:nvSpPr>
          <p:spPr>
            <a:xfrm>
              <a:off x="6477000" y="3000375"/>
              <a:ext cx="1524000" cy="666900"/>
            </a:xfrm>
            <a:prstGeom prst="roundRect">
              <a:avLst>
                <a:gd name="adj" fmla="val 11428"/>
              </a:avLst>
            </a:prstGeom>
            <a:solidFill>
              <a:srgbClr val="E11D48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7"/>
            <p:cNvSpPr txBox="1"/>
            <p:nvPr/>
          </p:nvSpPr>
          <p:spPr>
            <a:xfrm>
              <a:off x="6477000" y="3000375"/>
              <a:ext cx="1524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625" tIns="47625" rIns="47625" bIns="47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E11D48"/>
                  </a:solidFill>
                  <a:latin typeface="Calibri"/>
                  <a:ea typeface="Calibri"/>
                  <a:cs typeface="Calibri"/>
                  <a:sym typeface="Calibri"/>
                </a:rPr>
                <a:t>Marketing &amp; branding</a:t>
              </a:r>
              <a:endParaRPr sz="1100" b="1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Aug - Sep '26</a:t>
              </a:r>
              <a:endParaRPr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92" name="Google Shape;392;p1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229475" y="2867025"/>
              <a:ext cx="19200" cy="13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3" name="Google Shape;393;p17"/>
          <p:cNvGrpSpPr/>
          <p:nvPr/>
        </p:nvGrpSpPr>
        <p:grpSpPr>
          <a:xfrm>
            <a:off x="7620000" y="1407401"/>
            <a:ext cx="1333500" cy="1486050"/>
            <a:chOff x="7620000" y="1333500"/>
            <a:chExt cx="1333500" cy="1486050"/>
          </a:xfrm>
        </p:grpSpPr>
        <p:sp>
          <p:nvSpPr>
            <p:cNvPr id="394" name="Google Shape;394;p17"/>
            <p:cNvSpPr/>
            <p:nvPr/>
          </p:nvSpPr>
          <p:spPr>
            <a:xfrm>
              <a:off x="7620000" y="1333500"/>
              <a:ext cx="1333500" cy="43830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7"/>
            <p:cNvSpPr txBox="1"/>
            <p:nvPr/>
          </p:nvSpPr>
          <p:spPr>
            <a:xfrm>
              <a:off x="7620000" y="1333500"/>
              <a:ext cx="13335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1-2027</a:t>
              </a:r>
              <a:r>
                <a:rPr lang="en-US" sz="12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Launch</a:t>
              </a:r>
              <a:endParaRPr sz="12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96" name="Google Shape;396;p1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672513" y="1771650"/>
              <a:ext cx="28500" cy="1047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7" name="Google Shape;397;p17"/>
          <p:cNvSpPr/>
          <p:nvPr/>
        </p:nvSpPr>
        <p:spPr>
          <a:xfrm>
            <a:off x="533400" y="28575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6-Month Development</a:t>
            </a:r>
            <a:endParaRPr sz="3700" b="1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533400" y="775674"/>
            <a:ext cx="822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MVP in 6 months. First hospital pilot in Q</a:t>
            </a:r>
            <a:r>
              <a:rPr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400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202</a:t>
            </a:r>
            <a:r>
              <a:rPr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400" b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 b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366713" y="4619625"/>
            <a:ext cx="8410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budget: ₪250,000 development + ₪250,000 pilot</a:t>
            </a:r>
            <a:endParaRPr sz="2050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0" name="Google Shape;400;p17" title="logo_square_vector_no_slogan-removebg-preview.png"/>
          <p:cNvPicPr preferRelativeResize="0"/>
          <p:nvPr/>
        </p:nvPicPr>
        <p:blipFill rotWithShape="1">
          <a:blip r:embed="rId10">
            <a:alphaModFix/>
          </a:blip>
          <a:srcRect t="23004" b="24320"/>
          <a:stretch/>
        </p:blipFill>
        <p:spPr>
          <a:xfrm>
            <a:off x="7730250" y="36425"/>
            <a:ext cx="1291775" cy="6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oogle Shape;406;p18"/>
          <p:cNvGrpSpPr/>
          <p:nvPr/>
        </p:nvGrpSpPr>
        <p:grpSpPr>
          <a:xfrm>
            <a:off x="457200" y="1797158"/>
            <a:ext cx="8229525" cy="1524000"/>
            <a:chOff x="457200" y="1714500"/>
            <a:chExt cx="8229525" cy="1524000"/>
          </a:xfrm>
        </p:grpSpPr>
        <p:sp>
          <p:nvSpPr>
            <p:cNvPr id="407" name="Google Shape;407;p18"/>
            <p:cNvSpPr/>
            <p:nvPr/>
          </p:nvSpPr>
          <p:spPr>
            <a:xfrm>
              <a:off x="457200" y="1714500"/>
              <a:ext cx="2619300" cy="1524000"/>
            </a:xfrm>
            <a:prstGeom prst="roundRect">
              <a:avLst>
                <a:gd name="adj" fmla="val 7500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8"/>
            <p:cNvSpPr txBox="1"/>
            <p:nvPr/>
          </p:nvSpPr>
          <p:spPr>
            <a:xfrm>
              <a:off x="457200" y="1714500"/>
              <a:ext cx="2619300" cy="15240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>
                  <a:solidFill>
                    <a:srgbClr val="2DD4B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$150B</a:t>
              </a:r>
              <a:endParaRPr sz="3600" b="0">
                <a:solidFill>
                  <a:srgbClr val="2DD4B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is the problem</a:t>
              </a:r>
              <a:endPara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9" name="Google Shape;409;p18"/>
            <p:cNvSpPr/>
            <p:nvPr/>
          </p:nvSpPr>
          <p:spPr>
            <a:xfrm>
              <a:off x="3262313" y="1714500"/>
              <a:ext cx="2619300" cy="1524000"/>
            </a:xfrm>
            <a:prstGeom prst="roundRect">
              <a:avLst>
                <a:gd name="adj" fmla="val 7500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8"/>
            <p:cNvSpPr txBox="1"/>
            <p:nvPr/>
          </p:nvSpPr>
          <p:spPr>
            <a:xfrm>
              <a:off x="3262313" y="1714500"/>
              <a:ext cx="2619300" cy="15240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>
                  <a:solidFill>
                    <a:srgbClr val="2DD4B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 friction</a:t>
              </a:r>
              <a:endParaRPr sz="3600" b="0">
                <a:solidFill>
                  <a:srgbClr val="2DD4B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for max. user adoption</a:t>
              </a:r>
              <a:endPara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1" name="Google Shape;411;p18"/>
            <p:cNvSpPr/>
            <p:nvPr/>
          </p:nvSpPr>
          <p:spPr>
            <a:xfrm>
              <a:off x="6067425" y="1714500"/>
              <a:ext cx="2619300" cy="1524000"/>
            </a:xfrm>
            <a:prstGeom prst="roundRect">
              <a:avLst>
                <a:gd name="adj" fmla="val 7500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8"/>
            <p:cNvSpPr txBox="1"/>
            <p:nvPr/>
          </p:nvSpPr>
          <p:spPr>
            <a:xfrm>
              <a:off x="6067425" y="1714500"/>
              <a:ext cx="2619300" cy="15240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>
                  <a:solidFill>
                    <a:srgbClr val="2DD4B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</a:t>
              </a:r>
              <a:r>
                <a:rPr lang="en-US" sz="3600">
                  <a:solidFill>
                    <a:srgbClr val="2DD4B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8</a:t>
              </a:r>
              <a:r>
                <a:rPr lang="en-US" sz="3600" b="0">
                  <a:solidFill>
                    <a:srgbClr val="2DD4B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% less</a:t>
              </a:r>
              <a:endParaRPr sz="3600" b="0">
                <a:solidFill>
                  <a:srgbClr val="2DD4B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No-shows</a:t>
              </a:r>
              <a:endPara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3" name="Google Shape;413;p18"/>
          <p:cNvGrpSpPr/>
          <p:nvPr/>
        </p:nvGrpSpPr>
        <p:grpSpPr>
          <a:xfrm>
            <a:off x="8067675" y="1057275"/>
            <a:ext cx="533550" cy="533550"/>
            <a:chOff x="8067675" y="447675"/>
            <a:chExt cx="533550" cy="533550"/>
          </a:xfrm>
        </p:grpSpPr>
        <p:sp>
          <p:nvSpPr>
            <p:cNvPr id="414" name="Google Shape;414;p18"/>
            <p:cNvSpPr/>
            <p:nvPr/>
          </p:nvSpPr>
          <p:spPr>
            <a:xfrm>
              <a:off x="8067675" y="447675"/>
              <a:ext cx="57300" cy="573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8"/>
            <p:cNvSpPr/>
            <p:nvPr/>
          </p:nvSpPr>
          <p:spPr>
            <a:xfrm>
              <a:off x="8305800" y="447675"/>
              <a:ext cx="57300" cy="573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8"/>
            <p:cNvSpPr/>
            <p:nvPr/>
          </p:nvSpPr>
          <p:spPr>
            <a:xfrm>
              <a:off x="8543925" y="447675"/>
              <a:ext cx="57300" cy="573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8"/>
            <p:cNvSpPr/>
            <p:nvPr/>
          </p:nvSpPr>
          <p:spPr>
            <a:xfrm>
              <a:off x="8067675" y="685800"/>
              <a:ext cx="57300" cy="573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8"/>
            <p:cNvSpPr/>
            <p:nvPr/>
          </p:nvSpPr>
          <p:spPr>
            <a:xfrm>
              <a:off x="8305800" y="685800"/>
              <a:ext cx="57300" cy="573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8"/>
            <p:cNvSpPr/>
            <p:nvPr/>
          </p:nvSpPr>
          <p:spPr>
            <a:xfrm>
              <a:off x="8543925" y="685800"/>
              <a:ext cx="57300" cy="573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8"/>
            <p:cNvSpPr/>
            <p:nvPr/>
          </p:nvSpPr>
          <p:spPr>
            <a:xfrm>
              <a:off x="8067675" y="923925"/>
              <a:ext cx="57300" cy="573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8"/>
            <p:cNvSpPr/>
            <p:nvPr/>
          </p:nvSpPr>
          <p:spPr>
            <a:xfrm>
              <a:off x="8305800" y="923925"/>
              <a:ext cx="57300" cy="573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8"/>
            <p:cNvSpPr/>
            <p:nvPr/>
          </p:nvSpPr>
          <p:spPr>
            <a:xfrm>
              <a:off x="8543925" y="923925"/>
              <a:ext cx="57300" cy="573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23" name="Google Shape;423;p18" title="logo_square_vector_no_slogan-removebg-preview.png"/>
          <p:cNvPicPr preferRelativeResize="0"/>
          <p:nvPr/>
        </p:nvPicPr>
        <p:blipFill rotWithShape="1">
          <a:blip r:embed="rId4">
            <a:alphaModFix/>
          </a:blip>
          <a:srcRect t="23004" b="24320"/>
          <a:stretch/>
        </p:blipFill>
        <p:spPr>
          <a:xfrm>
            <a:off x="7730250" y="36425"/>
            <a:ext cx="1291775" cy="6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19"/>
          <p:cNvGrpSpPr/>
          <p:nvPr/>
        </p:nvGrpSpPr>
        <p:grpSpPr>
          <a:xfrm>
            <a:off x="8067675" y="447675"/>
            <a:ext cx="533550" cy="533550"/>
            <a:chOff x="8067675" y="447675"/>
            <a:chExt cx="533550" cy="533550"/>
          </a:xfrm>
        </p:grpSpPr>
        <p:sp>
          <p:nvSpPr>
            <p:cNvPr id="430" name="Google Shape;430;p19"/>
            <p:cNvSpPr/>
            <p:nvPr/>
          </p:nvSpPr>
          <p:spPr>
            <a:xfrm>
              <a:off x="8067675" y="447675"/>
              <a:ext cx="57300" cy="573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9"/>
            <p:cNvSpPr/>
            <p:nvPr/>
          </p:nvSpPr>
          <p:spPr>
            <a:xfrm>
              <a:off x="8305800" y="447675"/>
              <a:ext cx="57300" cy="573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9"/>
            <p:cNvSpPr/>
            <p:nvPr/>
          </p:nvSpPr>
          <p:spPr>
            <a:xfrm>
              <a:off x="8543925" y="447675"/>
              <a:ext cx="57300" cy="573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9"/>
            <p:cNvSpPr/>
            <p:nvPr/>
          </p:nvSpPr>
          <p:spPr>
            <a:xfrm>
              <a:off x="8067675" y="685800"/>
              <a:ext cx="57300" cy="573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9"/>
            <p:cNvSpPr/>
            <p:nvPr/>
          </p:nvSpPr>
          <p:spPr>
            <a:xfrm>
              <a:off x="8305800" y="685800"/>
              <a:ext cx="57300" cy="573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9"/>
            <p:cNvSpPr/>
            <p:nvPr/>
          </p:nvSpPr>
          <p:spPr>
            <a:xfrm>
              <a:off x="8543925" y="685800"/>
              <a:ext cx="57300" cy="573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9"/>
            <p:cNvSpPr/>
            <p:nvPr/>
          </p:nvSpPr>
          <p:spPr>
            <a:xfrm>
              <a:off x="8067675" y="923925"/>
              <a:ext cx="57300" cy="573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9"/>
            <p:cNvSpPr/>
            <p:nvPr/>
          </p:nvSpPr>
          <p:spPr>
            <a:xfrm>
              <a:off x="8305800" y="923925"/>
              <a:ext cx="57300" cy="573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9"/>
            <p:cNvSpPr/>
            <p:nvPr/>
          </p:nvSpPr>
          <p:spPr>
            <a:xfrm>
              <a:off x="8543925" y="923925"/>
              <a:ext cx="57300" cy="57300"/>
            </a:xfrm>
            <a:prstGeom prst="ellipse">
              <a:avLst/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9" name="Google Shape;439;p19"/>
          <p:cNvSpPr txBox="1"/>
          <p:nvPr/>
        </p:nvSpPr>
        <p:spPr>
          <a:xfrm>
            <a:off x="457200" y="2057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40" b="0" i="1">
                <a:solidFill>
                  <a:srgbClr val="2DD4B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Thank you </a:t>
            </a:r>
            <a:r>
              <a:rPr lang="en-US" sz="5040" i="1">
                <a:solidFill>
                  <a:srgbClr val="2DD4B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for listening</a:t>
            </a:r>
            <a:endParaRPr sz="1680" b="0" i="1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3143250" y="1913818"/>
            <a:ext cx="2857500" cy="399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9"/>
          <p:cNvSpPr txBox="1"/>
          <p:nvPr/>
        </p:nvSpPr>
        <p:spPr>
          <a:xfrm>
            <a:off x="457200" y="3673925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Roy Davidovich  |  Tal Ayoun  |  Kim Naishtut  |  Yasmin Diunina</a:t>
            </a:r>
            <a:b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lt1"/>
              </a:solidFill>
              <a:latin typeface="Heebo Medium"/>
              <a:ea typeface="Heebo Medium"/>
              <a:cs typeface="Heebo Medium"/>
              <a:sym typeface="Heebo Medium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4748B"/>
                </a:solidFill>
                <a:latin typeface="Heebo"/>
                <a:ea typeface="Heebo"/>
                <a:cs typeface="Heebo"/>
                <a:sym typeface="Heebo"/>
              </a:rPr>
              <a:t>Hub Workshop - 2026</a:t>
            </a:r>
            <a:endParaRPr sz="1400">
              <a:solidFill>
                <a:srgbClr val="64748B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pic>
        <p:nvPicPr>
          <p:cNvPr id="442" name="Google Shape;442;p19" title="logo_square_vector_no_slogan-removebg-preview.png"/>
          <p:cNvPicPr preferRelativeResize="0"/>
          <p:nvPr/>
        </p:nvPicPr>
        <p:blipFill rotWithShape="1">
          <a:blip r:embed="rId4">
            <a:alphaModFix/>
          </a:blip>
          <a:srcRect t="23004" b="24320"/>
          <a:stretch/>
        </p:blipFill>
        <p:spPr>
          <a:xfrm>
            <a:off x="3701822" y="1052075"/>
            <a:ext cx="1917925" cy="101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BD1DBAC-18D3-DF4F-9FF9-44057BD0B652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58378f6d-8a90-49c0-b578-93995252d35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</Words>
  <Application>Microsoft Macintosh PowerPoint</Application>
  <PresentationFormat>On-screen Show (16:9)</PresentationFormat>
  <Paragraphs>191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Inter</vt:lpstr>
      <vt:lpstr>Arial</vt:lpstr>
      <vt:lpstr>Heebo Medium</vt:lpstr>
      <vt:lpstr>Calibri</vt:lpstr>
      <vt:lpstr>Inter Light</vt:lpstr>
      <vt:lpstr>Heebo</vt:lpstr>
      <vt:lpstr>Inter ExtraBold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Roy Davidovich</cp:lastModifiedBy>
  <cp:revision>1</cp:revision>
  <dcterms:modified xsi:type="dcterms:W3CDTF">2026-06-19T16:24:15Z</dcterms:modified>
</cp:coreProperties>
</file>